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fd8ada47f45b6" /><Relationship Type="http://schemas.openxmlformats.org/officeDocument/2006/relationships/extended-properties" Target="/docProps/app.xml" Id="R1dc0a3b1230f4269" /><Relationship Type="http://schemas.openxmlformats.org/officeDocument/2006/relationships/officeDocument" Target="/ppt/presentation.xml" Id="Rf9c1141af1a4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e7e37e6734365"/>
  </p:sldMasterIdLst>
  <p:notesMasterIdLst>
    <p:notesMasterId xmlns:r="http://schemas.openxmlformats.org/officeDocument/2006/relationships" r:id="Rbf96eb9654354753"/>
  </p:notesMasterIdLst>
  <p:sldIdLst>
    <p:sldId xmlns:r="http://schemas.openxmlformats.org/officeDocument/2006/relationships" id="256" r:id="R3b5dc376a85a4209"/>
    <p:sldId xmlns:r="http://schemas.openxmlformats.org/officeDocument/2006/relationships" id="257" r:id="R1986a615f34d401b"/>
    <p:sldId xmlns:r="http://schemas.openxmlformats.org/officeDocument/2006/relationships" id="258" r:id="R2f5f65ccb7da44b7"/>
    <p:sldId xmlns:r="http://schemas.openxmlformats.org/officeDocument/2006/relationships" id="259" r:id="Rc7acbc1878f74e96"/>
    <p:sldId xmlns:r="http://schemas.openxmlformats.org/officeDocument/2006/relationships" id="260" r:id="R9b12f722f16a4665"/>
    <p:sldId xmlns:r="http://schemas.openxmlformats.org/officeDocument/2006/relationships" id="261" r:id="R14de7a4d9d5d4610"/>
    <p:sldId xmlns:r="http://schemas.openxmlformats.org/officeDocument/2006/relationships" id="262" r:id="R93ba7659ae8b4115"/>
    <p:sldId xmlns:r="http://schemas.openxmlformats.org/officeDocument/2006/relationships" id="263" r:id="R3079dea84fb846da"/>
    <p:sldId xmlns:r="http://schemas.openxmlformats.org/officeDocument/2006/relationships" id="264" r:id="R317718936057499c"/>
    <p:sldId xmlns:r="http://schemas.openxmlformats.org/officeDocument/2006/relationships" id="265" r:id="Redb34ad0d2954522"/>
    <p:sldId xmlns:r="http://schemas.openxmlformats.org/officeDocument/2006/relationships" id="266" r:id="Rcd85d75bfa2240c6"/>
    <p:sldId xmlns:r="http://schemas.openxmlformats.org/officeDocument/2006/relationships" id="267" r:id="Rad97d51636894b41"/>
    <p:sldId xmlns:r="http://schemas.openxmlformats.org/officeDocument/2006/relationships" id="268" r:id="R61a49e92100443c1"/>
    <p:sldId xmlns:r="http://schemas.openxmlformats.org/officeDocument/2006/relationships" id="269" r:id="Rdd42829579f74af5"/>
    <p:sldId xmlns:r="http://schemas.openxmlformats.org/officeDocument/2006/relationships" id="270" r:id="R221590578cbb4ea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a98aaba98d4817" /><Relationship Type="http://schemas.openxmlformats.org/officeDocument/2006/relationships/slideMaster" Target="/ppt/slideMasters/slideMaster1.xml" Id="Rdcce7e37e6734365" /><Relationship Type="http://schemas.openxmlformats.org/officeDocument/2006/relationships/notesMaster" Target="/ppt/notesMasters/notesMaster1.xml" Id="Rbf96eb9654354753" /><Relationship Type="http://schemas.openxmlformats.org/officeDocument/2006/relationships/presProps" Target="/ppt/presProps.xml" Id="R87b60ca9629647a6" /><Relationship Type="http://schemas.openxmlformats.org/officeDocument/2006/relationships/tableStyles" Target="/ppt/tableStyles.xml" Id="Rc12d5962e3c041ce" /><Relationship Type="http://schemas.openxmlformats.org/officeDocument/2006/relationships/slide" Target="/ppt/slides/slide1.xml" Id="R3b5dc376a85a4209" /><Relationship Type="http://schemas.openxmlformats.org/officeDocument/2006/relationships/slide" Target="/ppt/slides/slide2.xml" Id="R1986a615f34d401b" /><Relationship Type="http://schemas.openxmlformats.org/officeDocument/2006/relationships/slide" Target="/ppt/slides/slide3.xml" Id="R2f5f65ccb7da44b7" /><Relationship Type="http://schemas.openxmlformats.org/officeDocument/2006/relationships/slide" Target="/ppt/slides/slide4.xml" Id="Rc7acbc1878f74e96" /><Relationship Type="http://schemas.openxmlformats.org/officeDocument/2006/relationships/slide" Target="/ppt/slides/slide5.xml" Id="R9b12f722f16a4665" /><Relationship Type="http://schemas.openxmlformats.org/officeDocument/2006/relationships/slide" Target="/ppt/slides/slide6.xml" Id="R14de7a4d9d5d4610" /><Relationship Type="http://schemas.openxmlformats.org/officeDocument/2006/relationships/slide" Target="/ppt/slides/slide7.xml" Id="R93ba7659ae8b4115" /><Relationship Type="http://schemas.openxmlformats.org/officeDocument/2006/relationships/slide" Target="/ppt/slides/slide8.xml" Id="R3079dea84fb846da" /><Relationship Type="http://schemas.openxmlformats.org/officeDocument/2006/relationships/slide" Target="/ppt/slides/slide9.xml" Id="R317718936057499c" /><Relationship Type="http://schemas.openxmlformats.org/officeDocument/2006/relationships/slide" Target="/ppt/slides/slide10.xml" Id="Redb34ad0d2954522" /><Relationship Type="http://schemas.openxmlformats.org/officeDocument/2006/relationships/slide" Target="/ppt/slides/slide11.xml" Id="Rcd85d75bfa2240c6" /><Relationship Type="http://schemas.openxmlformats.org/officeDocument/2006/relationships/slide" Target="/ppt/slides/slide12.xml" Id="Rad97d51636894b41" /><Relationship Type="http://schemas.openxmlformats.org/officeDocument/2006/relationships/slide" Target="/ppt/slides/slide13.xml" Id="R61a49e92100443c1" /><Relationship Type="http://schemas.openxmlformats.org/officeDocument/2006/relationships/slide" Target="/ppt/slides/slide14.xml" Id="Rdd42829579f74af5" /><Relationship Type="http://schemas.openxmlformats.org/officeDocument/2006/relationships/slide" Target="/ppt/slides/slide15.xml" Id="R221590578cbb4e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0b997af2be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6fd97096c74bbc" /><Relationship Type="http://schemas.openxmlformats.org/officeDocument/2006/relationships/notesMaster" Target="/ppt/notesMasters/notesMaster1.xml" Id="R92b21dab021b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6313120fb6455f" /><Relationship Type="http://schemas.openxmlformats.org/officeDocument/2006/relationships/notesMaster" Target="/ppt/notesMasters/notesMaster1.xml" Id="R1a03b21002d5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fc9215a413417e" /><Relationship Type="http://schemas.openxmlformats.org/officeDocument/2006/relationships/notesMaster" Target="/ppt/notesMasters/notesMaster1.xml" Id="Rb551e613a3ec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5edfde6096487d" /><Relationship Type="http://schemas.openxmlformats.org/officeDocument/2006/relationships/notesMaster" Target="/ppt/notesMasters/notesMaster1.xml" Id="Rd2fea17de5a2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bb05e046654841" /><Relationship Type="http://schemas.openxmlformats.org/officeDocument/2006/relationships/notesMaster" Target="/ppt/notesMasters/notesMaster1.xml" Id="Rc45d6f593ed54a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c2af1146d4aed" /><Relationship Type="http://schemas.openxmlformats.org/officeDocument/2006/relationships/notesMaster" Target="/ppt/notesMasters/notesMaster1.xml" Id="Rb5a3858a48fe46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87b49b9c94751" /><Relationship Type="http://schemas.openxmlformats.org/officeDocument/2006/relationships/notesMaster" Target="/ppt/notesMasters/notesMaster1.xml" Id="R390f3a8ba2bc4b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2680980bf34bfd" /><Relationship Type="http://schemas.openxmlformats.org/officeDocument/2006/relationships/notesMaster" Target="/ppt/notesMasters/notesMaster1.xml" Id="Re1388ee0a29346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9e8d63e3e140eb" /><Relationship Type="http://schemas.openxmlformats.org/officeDocument/2006/relationships/notesMaster" Target="/ppt/notesMasters/notesMaster1.xml" Id="Rd2fa145f25254f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e5c35741224cd3" /><Relationship Type="http://schemas.openxmlformats.org/officeDocument/2006/relationships/notesMaster" Target="/ppt/notesMasters/notesMaster1.xml" Id="R5277d3bc3d0b49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6faa4172754f59" /><Relationship Type="http://schemas.openxmlformats.org/officeDocument/2006/relationships/notesMaster" Target="/ppt/notesMasters/notesMaster1.xml" Id="R592a42c118d447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730a62096e49f4" /><Relationship Type="http://schemas.openxmlformats.org/officeDocument/2006/relationships/notesMaster" Target="/ppt/notesMasters/notesMaster1.xml" Id="Rb676db6f7645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ea5de8b43e480b" /><Relationship Type="http://schemas.openxmlformats.org/officeDocument/2006/relationships/notesMaster" Target="/ppt/notesMasters/notesMaster1.xml" Id="R8be998f78ffb45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18888f3afb4498" /><Relationship Type="http://schemas.openxmlformats.org/officeDocument/2006/relationships/notesMaster" Target="/ppt/notesMasters/notesMaster1.xml" Id="R902be8a7a92848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df461b8a834eba" /><Relationship Type="http://schemas.openxmlformats.org/officeDocument/2006/relationships/notesMaster" Target="/ppt/notesMasters/notesMaster1.xml" Id="R8c44dc2c1ac7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0:00–0:45 — Promise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Promise: I will show one real product moving from an incomplete idea to approved implementation and evidence—without live-coding heroics.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Say: You already know an AI can produce code. The question tonight is how you keep your judgement while it does more of the building.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0:45–2:30 — Personal history hook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Tell the Wrox-book story. I learned by being inside the leaves: language syntax, pages of code, a CRT and a lot of coffee.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Self-deprecating line: some of you were not born yet; some of the books were nearly as heavy as you are now.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Transition: each generation of tooling removed one production constraint. Agents remove a much larger one.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OpenAI-generated illustration commissioned for this talk: presentation/assets/late-90s-developer.png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2:30–3:45 — Core thesis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Pause after the final 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prompt is a moment. A loop gives the work questions, decisions, challenge, evidence and memory.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not a claim that every task needs ceremony. It is proportional control for work that matters.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3:45–5:00 — Introduce the living product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call the starting prompt bad. It is a perfectly normal product idea, but it contains unanswered questions.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demo link: switch to the root application at http://localhost:4180 only to establish the finished destination, then return immediately.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Tell the audience: now we will decompose how the product acquired its meaning.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Authentic local browser capture: presentation/assets/apply-forward-final.png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5:00–6:15 — Orient the audience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only process diagram. The rest of the talk walks through it with the product.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Name the detailed lifecycle once: interrogate, plan, challenge, approve, build, challenge, prove, remember.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Then use the simpler language before / build / after.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6:15–8:30 — Prompt and real discussion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presentation/journey/prompts/00-start.md or show the selected excerpt on screen.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highest-value questions: who is overwhelmed, what decision is hard, what is sensitive, and what would make the product useful tomorrow morning?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Key reveal: tracking was the mechanism. Choosing the next useful action was the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artifact: presentation/journey/SESSION-LOG.md.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8:30–10:15 — Planning artifact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only decisive lines from the real plan; do not tour the Markdown.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plan is valuable when it exposes what the agent would otherwise silently decide.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Model-native planning is useful. The repo-owned layer adds portable context, team review, tailored gates and a durable record.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artifact: presentation/journey/artifacts/01-plan.md after our recorded session.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https://www.anthropic.com/research/building-effective-agents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https://openai.com/index/harness-engineering/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10:15–12:00 — Socratic adversary hook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not two models arguing until truth appears. Separate the authoring pass from a review pass with criteria and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useful challenger asks for assumptions, consequences, failure modes, decision owners and disconfirming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Structured critique can help in controlled settings; unstructured debate can drift or reinforce the same mistake.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artifact: presentation/journey/artifacts/02-plan-review.md.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https://arxiv.org/abs/2303.17651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https://arxiv.org/abs/2305.14325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https://proceedings.mlr.press/v235/khan24a.html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https://aclanthology.org/2026.findings-eacl.268/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OpenAI-generated illustration commissioned for this talk: presentation/assets/socratic-adversary.png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12:00–12:50 — Human approval gate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the concise approval artifact: accepted plan revision, conditions, owner and scope.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point is not that humans approve every line. Humans own the consequential decisions and the evidence threshold.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artifact: presentation/journey/artifacts/03-approval.md.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12:50–15:00 — Implementation result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Switch to the root application at http://localhost:4180.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Show: the ranked next action, the explanation, status changes, adding an application, and download.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narrate source code. Relate each visible behaviour back to an approved decision.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Fallback: use presentation/assets/apply-forward-final.png.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Authentic local browser capture: presentation/assets/apply-forward-final.png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15:00–17:45 — Review, proof and recovery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the privacy invariant: personal notes must never cross persistence or download boundaries.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30-second terminal proof: npm test. Expected result: 3 tests pass.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Then tell the rehearsal failure honestly: one run had green unit tests but broken browser module loading. Browser proof caught the seam that the unit test did not exercise.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where false confidence appears naturally—not as a contrived bad app, but as a mismatch between a claim and its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artifacts: 04-implementation-review.md and 05-evidence.md.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evidence: docs/validation/VALIDATION-REPORT.md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executable evidence: privacy.test.js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17:45–19:45 — Bonsai/context hook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plan trail records how and why the system changed. The spine describes what the system means now.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dump the whole conversation into context. Prune stale assumptions; keep durable product meaning, architecture, invariants, glossary and direction.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next agent starts from the shaped tree, not a pile of leaves.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Journey artifact: presentation/journey/artifacts/06-remember.md and docs/spine.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https://openai.com/index/harness-engineering/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https://www.anthropic.com/engineering/effective-harnesses-for-long-running-agents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https://www.anthropic.com/engineering/harness-design-long-running-apps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OpenAI-generated illustration commissioned for this talk: presentation/assets/context-spine-bonsai.png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19:45–21:45 — Systems-thinking implication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Avoid horizontal and vertical terminology; teams reverse those axes.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Agents make product growth—features that run end to end—cheaper. That increases the leverage in foundations that cross the system: boundaries, privacy, observability, contracts, tests and context.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Engineering alternates between these modes. We grow on foundations, then strengthen the foundations we have learned are weak.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21:45–24:00 — Agentic-builder ending hook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not instant seniority and it is not the end of technical foundations.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It is earlier access to broader engineering work: product intent, architecture, system boundaries, operations, risk and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Code-level understanding remains useful, but it is no longer sufficient. Curiosity, intentionality, judgement and agency let you operate at a larger scale.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Greater reach creates greater responsibility to recognise uncertainty and involve specialists.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OpenAI-generated illustration commissioned for this talk: presentation/assets/agentic-builder-gardener.png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24:00–25:30 — Resolve the promise and open Q&amp;A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Return to the opening: the point was never that AI can type code. It was that you can let it build without surrendering the decisions that make the result engineering.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Meta line, once only: I used the same loop to shape this talk—but the application was the product.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invitation: clone the repo, choose one material task, interrogate before implementation, challenge the plan, and demand evidence afterward.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At 25:30, stop and take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7c9399f4d4b96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e105c2c9ab4c8d" /><Relationship Type="http://schemas.openxmlformats.org/officeDocument/2006/relationships/slideLayout" Target="/ppt/slideLayouts/slideLayout1.xml" Id="Rb9027345003c4e6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027345003c4e6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6bca4c8234463" /><Relationship Type="http://schemas.openxmlformats.org/officeDocument/2006/relationships/notesSlide" Target="/ppt/notesSlides/notesSlide1.xml" Id="R529829578310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c98af2be4306" /><Relationship Type="http://schemas.openxmlformats.org/officeDocument/2006/relationships/image" Target="/ppt/media/image.png" Id="Rc51c0db868574ad2" /><Relationship Type="http://schemas.openxmlformats.org/officeDocument/2006/relationships/notesSlide" Target="/ppt/notesSlides/notesSlide2.xml" Id="Rad52b8d27d9f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261d0bac24d75" /><Relationship Type="http://schemas.openxmlformats.org/officeDocument/2006/relationships/notesSlide" Target="/ppt/notesSlides/notesSlide3.xml" Id="R95511d3fbaec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29e59104343d5" /><Relationship Type="http://schemas.openxmlformats.org/officeDocument/2006/relationships/image" Target="/ppt/media/image2.png" Id="Ra329bf529388451c" /><Relationship Type="http://schemas.openxmlformats.org/officeDocument/2006/relationships/notesSlide" Target="/ppt/notesSlides/notesSlide4.xml" Id="R852d9a5a845a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c134585ad45bc" /><Relationship Type="http://schemas.openxmlformats.org/officeDocument/2006/relationships/notesSlide" Target="/ppt/notesSlides/notesSlide5.xml" Id="Rb6e22cc9be6e4a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c56e9f93447c" /><Relationship Type="http://schemas.openxmlformats.org/officeDocument/2006/relationships/notesSlide" Target="/ppt/notesSlides/notesSlide6.xml" Id="R9201abff5cd2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e27614534d2c" /><Relationship Type="http://schemas.openxmlformats.org/officeDocument/2006/relationships/notesSlide" Target="/ppt/notesSlides/notesSlide7.xml" Id="R3b42749851ee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08fca231c4685" /><Relationship Type="http://schemas.openxmlformats.org/officeDocument/2006/relationships/image" Target="/ppt/media/image3.png" Id="Ra5e5a1c151484207" /><Relationship Type="http://schemas.openxmlformats.org/officeDocument/2006/relationships/notesSlide" Target="/ppt/notesSlides/notesSlide8.xml" Id="Ra48f51b61f2846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e2f13ddd5460a" /><Relationship Type="http://schemas.openxmlformats.org/officeDocument/2006/relationships/notesSlide" Target="/ppt/notesSlides/notesSlide9.xml" Id="R7c196e852f8b40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c6e51f7364358" /><Relationship Type="http://schemas.openxmlformats.org/officeDocument/2006/relationships/image" Target="/ppt/media/image4.png" Id="R9798b582a18a4d4f" /><Relationship Type="http://schemas.openxmlformats.org/officeDocument/2006/relationships/notesSlide" Target="/ppt/notesSlides/notesSlide10.xml" Id="R7475fa996fe148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49eefb8094db9" /><Relationship Type="http://schemas.openxmlformats.org/officeDocument/2006/relationships/notesSlide" Target="/ppt/notesSlides/notesSlide11.xml" Id="Ra1c1d434bd984b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366dfb9e14bdd" /><Relationship Type="http://schemas.openxmlformats.org/officeDocument/2006/relationships/image" Target="/ppt/media/image5.png" Id="R248fdd3eef13435b" /><Relationship Type="http://schemas.openxmlformats.org/officeDocument/2006/relationships/notesSlide" Target="/ppt/notesSlides/notesSlide12.xml" Id="R6a1d1ce5ed4d45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4915d965411e" /><Relationship Type="http://schemas.openxmlformats.org/officeDocument/2006/relationships/notesSlide" Target="/ppt/notesSlides/notesSlide13.xml" Id="R4d25b9ff1dbe48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0b4c469a481c" /><Relationship Type="http://schemas.openxmlformats.org/officeDocument/2006/relationships/image" Target="/ppt/media/image6.png" Id="Rdb75456ead874c42" /><Relationship Type="http://schemas.openxmlformats.org/officeDocument/2006/relationships/notesSlide" Target="/ppt/notesSlides/notesSlide14.xml" Id="R51fcd7c5b0214e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a8bcd64e740fd" /><Relationship Type="http://schemas.openxmlformats.org/officeDocument/2006/relationships/notesSlide" Target="/ppt/notesSlides/notesSlide15.xml" Id="R9c7e8b48305c46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A9CA3F1F-FD6A-4617-8477-BBEE1D1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JUNIORDEV AUCKLAND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7" name="Google Shape;17;p3"/>
          <p:cNvCxnSpPr/>
          <p:nvPr/>
        </p:nvCxnSpPr>
        <p:spPr>
          <a:xfrm xmlns:a="http://schemas.openxmlformats.org/drawingml/2006/main">
            <a:off x="365760" y="713232"/>
            <a:ext cx="841248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A2A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1C67A93-3F78-4A01-942B-D95683B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7200"/>
              <a:buFont typeface="Impact"/>
              <a:buNone/>
            </a:pPr>
            <a:r>
              <a:rPr sz="7200" b="1" i="0" u="none" cap="none">
                <a:solidFill>
                  <a:srgbClr val="FAFAF7"/>
                </a:solidFill>
                <a:latin typeface="Impact"/>
                <a:ea typeface="Impact"/>
                <a:cs typeface="Impact"/>
              </a:rPr>
              <a:t>BEYOND</a:t>
            </a:r>
            <a:endParaRPr sz="7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3C2E1233-2111-40E6-85BB-FE3B6274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7200"/>
              <a:buFont typeface="Impact"/>
              <a:buNone/>
            </a:pPr>
            <a:r>
              <a:rPr sz="7200" b="1" i="0" u="none" cap="none">
                <a:solidFill>
                  <a:srgbClr val="FF5C39"/>
                </a:solidFill>
                <a:latin typeface="Impact"/>
                <a:ea typeface="Impact"/>
                <a:cs typeface="Impact"/>
              </a:rPr>
              <a:t>THE</a:t>
            </a:r>
            <a:endParaRPr sz="7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AD023BB-3329-4BC2-B26A-3AD28C94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7200"/>
              <a:buFont typeface="Impact"/>
              <a:buNone/>
            </a:pPr>
            <a:r>
              <a:rPr sz="7200" b="1" i="0" u="none" cap="none">
                <a:solidFill>
                  <a:srgbClr val="FF5C39"/>
                </a:solidFill>
                <a:latin typeface="Impact"/>
                <a:ea typeface="Impact"/>
                <a:cs typeface="Impact"/>
              </a:rPr>
              <a:t>PROMPT.</a:t>
            </a:r>
            <a:endParaRPr sz="7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01FB12C2-DE81-4984-821F-22E64C1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052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600"/>
              <a:buFont typeface="Calibri"/>
              <a:buNone/>
            </a:pPr>
            <a:r>
              <a:rPr sz="1600" b="0" i="0" u="none" cap="none">
                <a:solidFill>
                  <a:srgbClr val="FAFAF7"/>
                </a:solidFill>
                <a:latin typeface="Calibri"/>
                <a:ea typeface="Calibri"/>
                <a:cs typeface="Calibri"/>
              </a:rPr>
              <a:t>Keith Patton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7C641219-0DFA-431F-A589-E445CB2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6227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Software engineering &amp; technology leader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7CF451C5-7390-45E3-BE5A-3682783A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AUCKLAND  /  SEPTEMBER 2026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5863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01  /  BEFORE AGENTS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I used to write every line myself.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LATE 1990s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No Stack Overflow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Enormous red books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One exhausted developer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Coffee as architecture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1998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02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c0db868574ad2"/>
          <a:srcRect xmlns:a="http://schemas.openxmlformats.org/drawingml/2006/main" l="0" t="7143" r="0" b="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2194560"/>
            <a:ext cx="2560320" cy="21945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4DE29C2F-2790-4566-9284-819FC59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02  /  THE TURN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D7B4F82F-AFA5-4E49-AAA7-9BBB4A5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2296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4000"/>
              <a:buFont typeface="Georgia"/>
              <a:buNone/>
            </a:pPr>
            <a:r>
              <a:rPr sz="14000" b="0" i="0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“</a:t>
            </a:r>
            <a:endParaRPr sz="1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22D5573E-9A99-4AD6-8C4F-8D1236D4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The valuable unit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30CF7035-C27C-44BE-A3B6-E531734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is not the prompt.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9C419AEF-81CA-4797-89D1-FBCF28A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It is the loop.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888E591B-8899-45BA-9885-07D03E80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5196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onsolas"/>
              <a:buNone/>
            </a:pPr>
            <a:r>
              <a:rPr sz="13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(judgement stays visible)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A348EB23-2B5B-4807-B543-3781B07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AEA5B1A1-03A0-45BA-AF03-84FBC05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03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2600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03  /  IDEA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Build a job application tracker.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ONE LIVING PRODUCT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Not a control experiment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Not a coding spectacle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A normal incomplete idea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Followed end to end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THE APP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04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9bf529388451c"/>
          <a:srcRect xmlns:a="http://schemas.openxmlformats.org/drawingml/2006/main" l="1348" t="0" r="1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2194560"/>
            <a:ext cx="2560320" cy="21945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AEBA2229-F360-4C79-AE4A-E4451F8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04  /  THE WHOLE LOOP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34C31EFD-E8A7-488E-8F59-D8DAE8F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One product. Three moments of control.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AC99229D-BB2A-43A3-B473-188BEB1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0D17BFB2-7B7E-4FCE-9BE7-4D29B48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BEFORE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8A30198E-A420-4EA5-9060-201E518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Interrogate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B87E0CEF-F55F-4849-A54D-89DE7BC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Reframe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5E7AC58-2036-4EE6-8530-D7E4A7B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Plan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85958F6E-0045-4F77-940F-44594AF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Challenge + approve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949305CD-0889-40C9-9BF0-4A3CCFF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324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2800"/>
              <a:buFont typeface="Calibri"/>
              <a:buNone/>
            </a:pPr>
            <a:r>
              <a:rPr sz="2800" b="0" i="0" u="none" cap="none">
                <a:solidFill>
                  <a:srgbClr val="FF5C39"/>
                </a:solidFill>
                <a:latin typeface="Calibri"/>
                <a:ea typeface="Calibri"/>
                <a:cs typeface="Calibri"/>
              </a:rPr>
              <a:t>→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1C483DEF-D76D-4B42-935D-5CF2574D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99949900-1EB7-4C3A-8F96-A2D01F1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BUILD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0D9CC4B2-342E-4E76-8C75-A5D6E9DF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Implement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8BC27081-1C63-4017-A213-99B5C23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Review behaviour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8C610C55-8C70-4467-BFDC-5649106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Inspect seams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EA553613-A2B0-4908-8E56-2E24510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Recover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3ABD8C39-99DD-441E-AC88-A0C9F63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324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2800"/>
              <a:buFont typeface="Calibri"/>
              <a:buNone/>
            </a:pPr>
            <a:r>
              <a:rPr sz="2800" b="0" i="0" u="none" cap="none">
                <a:solidFill>
                  <a:srgbClr val="FF5C39"/>
                </a:solidFill>
                <a:latin typeface="Calibri"/>
                <a:ea typeface="Calibri"/>
                <a:cs typeface="Calibri"/>
              </a:rPr>
              <a:t>→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480D3978-4999-4837-9382-907DAF09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DC6C0E04-D023-4670-94F5-C7DF6AC1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AFTER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F6E9E4F2-57A4-4FAB-B0F2-3A3B8EE6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Prove claims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3031252F-C35B-4BC1-A924-7ED46489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Update the spine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D0C9AE17-6B23-4533-848F-A190FC4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Keep the trail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D61B3C5D-CF66-43F0-8C36-25CDD4FE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Start smarter next time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3CE00B5F-B1BD-4380-8770-F3BE6A9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A9ED79D7-F73A-4A1E-B2C6-0DC923C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05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734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5920FDF9-8F4E-486B-A0E6-76A1633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05  /  INTERROGATE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9EE91708-0FC8-4C29-8F76-3732BD2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800"/>
              <a:buFont typeface="Georgia"/>
              <a:buNone/>
            </a:pPr>
            <a:r>
              <a:rPr sz="4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THE IDEA CHANGES BEFORE THE CODE DOES.</a:t>
            </a:r>
            <a:endParaRPr sz="4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4EC88FD9-0113-4070-8ABB-F098A91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THE REQUEST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9CD1E61B-C107-4621-99EB-013588D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Build a job application tracker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CD9E92D5-00DF-45A6-8BB7-81F7D41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7977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Companies and roles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1B5A9780-32F2-4275-AFB7-D842650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9067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Statuses and dates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522E238B-04B4-4157-AC3D-4CBDBFE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015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Notes and export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D3A4F75A-C35D-43AC-9B31-3FB080D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1246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A perfectly normal idea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0" name="Google Shape;75;p6"/>
          <p:cNvCxnSpPr/>
          <p:nvPr/>
        </p:nvCxnSpPr>
        <p:spPr>
          <a:xfrm xmlns:a="http://schemas.openxmlformats.org/drawingml/2006/main">
            <a:off x="4572000" y="2103120"/>
            <a:ext cx="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E5E3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E5D1CABD-CC73-4E51-8958-10D8D8E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THE OUTCOME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6C68A983-D4EC-4E39-8E33-A3280F60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68880"/>
            <a:ext cx="3931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Consolas"/>
              <a:buNone/>
            </a:pPr>
            <a:r>
              <a:rPr sz="3200" b="1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What should I do next?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2DC6FE49-38EA-4608-995B-F736FE1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931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The tracker becomes a decision aid: one prioritised action, a reason, a deadline and a privacy boundary.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1149CA17-FB52-4509-B184-A6AFB6F6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605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F8F7DC9-5AED-4276-A68F-BB2AD21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605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REFRAME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B4E6919E-CAA3-444F-9EE1-B760792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A6B92F23-680A-496D-8783-BB58751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06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4292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AEBA2229-F360-4C79-AE4A-E4451F8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06  /  PLAN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34C31EFD-E8A7-488E-8F59-D8DAE8F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Make judgement visible before implementation.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AC99229D-BB2A-43A3-B473-188BEB1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0D17BFB2-7B7E-4FCE-9BE7-4D29B48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INTENT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8A30198E-A420-4EA5-9060-201E518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User outcome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B87E0CEF-F55F-4849-A54D-89DE7BC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Bounded scope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F5E7AC58-2036-4EE6-8530-D7E4A7B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Non-goals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85958F6E-0045-4F77-940F-44594AF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Human decisions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949305CD-0889-40C9-9BF0-4A3CCFF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324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2800"/>
              <a:buFont typeface="Calibri"/>
              <a:buNone/>
            </a:pPr>
            <a:r>
              <a:rPr sz="2800" b="0" i="0" u="none" cap="none">
                <a:solidFill>
                  <a:srgbClr val="FF5C39"/>
                </a:solidFill>
                <a:latin typeface="Calibri"/>
                <a:ea typeface="Calibri"/>
                <a:cs typeface="Calibri"/>
              </a:rPr>
              <a:t>→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1C483DEF-D76D-4B42-935D-5CF2574D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99949900-1EB7-4C3A-8F96-A2D01F1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SYSTEM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0D9CC4B2-342E-4E76-8C75-A5D6E9DF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Data boundaries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8BC27081-1C63-4017-A213-99B5C23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Dependencies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8C610C55-8C70-4467-BFDC-5649106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Failure modes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EA553613-A2B0-4908-8E56-2E24510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Privacy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3ABD8C39-99DD-441E-AC88-A0C9F63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324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2800"/>
              <a:buFont typeface="Calibri"/>
              <a:buNone/>
            </a:pPr>
            <a:r>
              <a:rPr sz="2800" b="0" i="0" u="none" cap="none">
                <a:solidFill>
                  <a:srgbClr val="FF5C39"/>
                </a:solidFill>
                <a:latin typeface="Calibri"/>
                <a:ea typeface="Calibri"/>
                <a:cs typeface="Calibri"/>
              </a:rPr>
              <a:t>→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480D3978-4999-4837-9382-907DAF09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03120"/>
            <a:ext cx="23774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9050" cmpd="sng">
            <a:solidFill>
              <a:srgbClr val="1A1A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DC6C0E04-D023-4670-94F5-C7DF6AC1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402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000"/>
              <a:buFont typeface="Consolas"/>
              <a:buNone/>
            </a:pPr>
            <a:r>
              <a:rPr sz="10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EVIDENCE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F6E9E4F2-57A4-4FAB-B0F2-3A3B8EE6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974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Acceptance criteria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3031252F-C35B-4BC1-A924-7ED46489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0837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Unit proof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D0C9AE17-6B23-4533-848F-A190FC4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1927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Browser proof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D61B3C5D-CF66-43F0-8C36-25CDD4FE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Remaining risk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3CE00B5F-B1BD-4380-8770-F3BE6A9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A9ED79D7-F73A-4A1E-B2C6-0DC923C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07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734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07  /  CHALLENGE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Separate creation from challenge.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ASK WHAT THE PLAN ASSUMES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Why this next action?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What if data is stale?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Can private notes leak?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What would disprove us?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SOCRATES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08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5a1c151484207"/>
          <a:srcRect xmlns:a="http://schemas.openxmlformats.org/drawingml/2006/main" l="17170" t="0" r="17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2194560"/>
            <a:ext cx="2560320" cy="21945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4DE29C2F-2790-4566-9284-819FC59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08  /  APPROVE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D7B4F82F-AFA5-4E49-AAA7-9BBB4A5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2296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4000"/>
              <a:buFont typeface="Georgia"/>
              <a:buNone/>
            </a:pPr>
            <a:r>
              <a:rPr sz="14000" b="0" i="0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“</a:t>
            </a:r>
            <a:endParaRPr sz="1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22D5573E-9A99-4AD6-8C4F-8D1236D4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The agent can propose.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30CF7035-C27C-44BE-A3B6-E531734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It cannot own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9C419AEF-81CA-4797-89D1-FBCF28A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84124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4200"/>
              <a:buFont typeface="Georgia"/>
              <a:buNone/>
            </a:pPr>
            <a:r>
              <a:rPr sz="4200" b="0" i="1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the decision.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888E591B-8899-45BA-9885-07D03E80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5196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onsolas"/>
              <a:buNone/>
            </a:pPr>
            <a:r>
              <a:rPr sz="13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(product • privacy • architecture • scope)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A348EB23-2B5B-4807-B543-3781B07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AEA5B1A1-03A0-45BA-AF03-84FBC05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09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2600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09  /  BUILD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Build the approved change.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THE RESULT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One next action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A visible reason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Session-private notes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A testable boundary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PRODUCT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10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8b582a18a4d4f"/>
          <a:srcRect xmlns:a="http://schemas.openxmlformats.org/drawingml/2006/main" l="1348" t="0" r="1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2194560"/>
            <a:ext cx="2560320" cy="21945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16C5A624-7BF4-42C5-813B-0517946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10  /  CHALLENGE + PROVE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6C0109E1-BB52-4B5C-B53D-9F6A6CC0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86868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Working is a claim. Evidence earns it.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B3FA63AC-E144-49AA-B5EC-A8529B7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400"/>
              <a:buFont typeface="Consolas"/>
              <a:buNone/>
            </a:pPr>
            <a:r>
              <a:rPr sz="14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49" name="Google Shape;120;p8"/>
          <p:cNvCxnSpPr/>
          <p:nvPr/>
        </p:nvCxnSpPr>
        <p:spPr>
          <a:xfrm xmlns:a="http://schemas.openxmlformats.org/drawingml/2006/main">
            <a:off x="365760" y="2606040"/>
            <a:ext cx="26517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5C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705C1182-FFE8-4E98-90C6-08B33B45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2200"/>
              <a:buFont typeface="Impact"/>
              <a:buNone/>
            </a:pPr>
            <a:r>
              <a:rPr sz="2200" b="1" i="0" u="none" cap="none">
                <a:solidFill>
                  <a:srgbClr val="FAFAF7"/>
                </a:solidFill>
                <a:latin typeface="Impact"/>
                <a:ea typeface="Impact"/>
                <a:cs typeface="Impact"/>
              </a:rPr>
              <a:t>BEHAVIOUR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67B45578-D485-453B-B6AD-B95B56F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26517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Does it solve the approved outcome?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AB345765-781D-4F6C-AF25-7891B07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400"/>
              <a:buFont typeface="Consolas"/>
              <a:buNone/>
            </a:pPr>
            <a:r>
              <a:rPr sz="14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3" name="Google Shape;124;p8"/>
          <p:cNvCxnSpPr/>
          <p:nvPr/>
        </p:nvCxnSpPr>
        <p:spPr>
          <a:xfrm xmlns:a="http://schemas.openxmlformats.org/drawingml/2006/main">
            <a:off x="3246120" y="2606040"/>
            <a:ext cx="26517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5C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7E9CD5D2-6DB9-4B9A-AB1C-8D1B952F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4320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2200"/>
              <a:buFont typeface="Impact"/>
              <a:buNone/>
            </a:pPr>
            <a:r>
              <a:rPr sz="2200" b="1" i="0" u="none" cap="none">
                <a:solidFill>
                  <a:srgbClr val="FAFAF7"/>
                </a:solidFill>
                <a:latin typeface="Impact"/>
                <a:ea typeface="Impact"/>
                <a:cs typeface="Impact"/>
              </a:rPr>
              <a:t>BOUNDARIES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810DC13D-77A7-4534-8A68-FEC905A1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37560"/>
            <a:ext cx="26517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Do private notes stay private?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AFECC842-8A16-4625-86DF-BF85C4BA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94560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400"/>
              <a:buFont typeface="Consolas"/>
              <a:buNone/>
            </a:pPr>
            <a:r>
              <a:rPr sz="14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03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7" name="Google Shape;128;p8"/>
          <p:cNvCxnSpPr/>
          <p:nvPr/>
        </p:nvCxnSpPr>
        <p:spPr>
          <a:xfrm xmlns:a="http://schemas.openxmlformats.org/drawingml/2006/main">
            <a:off x="6126480" y="2606040"/>
            <a:ext cx="26517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F5C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368B3975-C646-41EF-9FCA-40C255D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4320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2200"/>
              <a:buFont typeface="Impact"/>
              <a:buNone/>
            </a:pPr>
            <a:r>
              <a:rPr sz="2200" b="1" i="0" u="none" cap="none">
                <a:solidFill>
                  <a:srgbClr val="FAFAF7"/>
                </a:solidFill>
                <a:latin typeface="Impact"/>
                <a:ea typeface="Impact"/>
                <a:cs typeface="Impact"/>
              </a:rPr>
              <a:t>REALITY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23F5E162-A67A-40BB-A51A-1E53C21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37560"/>
            <a:ext cx="26517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Do tests and browser agree?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33C5BB7C-87D4-4411-8F39-B938D850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34840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300"/>
              <a:buFont typeface="Consolas"/>
              <a:buNone/>
            </a:pPr>
            <a:r>
              <a:rPr sz="1300" b="0" i="1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Tests passed. The browser once still failed.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83E5E42B-D6F4-470F-A447-1797013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024429E6-0795-4212-BA01-953B5F09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11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4893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11  /  REMEMBER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Curate what the system now means.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THE CONTEXT SPINE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Product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Architecture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Invariants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Glossary + direction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CURATE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12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fdd3eef13435b"/>
          <a:stretch xmlns:a="http://schemas.openxmlformats.org/drawingml/2006/main"/>
        </p:blipFill>
        <p:spPr>
          <a:xfrm xmlns:a="http://schemas.openxmlformats.org/drawingml/2006/main">
            <a:off x="6217920" y="2571367"/>
            <a:ext cx="2560320" cy="14409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5920FDF9-8F4E-486B-A0E6-76A1633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12  /  SYSTEM THINKING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9EE91708-0FC8-4C29-8F76-3732BD2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800"/>
              <a:buFont typeface="Georgia"/>
              <a:buNone/>
            </a:pPr>
            <a:r>
              <a:rPr sz="4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GROW THE PRODUCT. STRENGTHEN THE SYSTEM.</a:t>
            </a:r>
            <a:endParaRPr sz="4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4EC88FD9-0113-4070-8ABB-F098A91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PRODUCT GROWTH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9CD1E61B-C107-4621-99EB-013588D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Next-action outcome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CD9E92D5-00DF-45A6-8BB7-81F7D41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7977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Ranking and rationale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1B5A9780-32F2-4275-AFB7-D842650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9067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Application flow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522E238B-04B4-4157-AC3D-4CBDBFE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015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User feedback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D3A4F75A-C35D-43AC-9B31-3FB080D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1246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A1A1F"/>
                </a:solidFill>
                <a:latin typeface="Calibri"/>
                <a:ea typeface="Calibri"/>
                <a:cs typeface="Calibri"/>
              </a:rPr>
              <a:t>Builds the system upward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0" name="Google Shape;75;p6"/>
          <p:cNvCxnSpPr/>
          <p:nvPr/>
        </p:nvCxnSpPr>
        <p:spPr>
          <a:xfrm xmlns:a="http://schemas.openxmlformats.org/drawingml/2006/main">
            <a:off x="4572000" y="2103120"/>
            <a:ext cx="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E5E3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E5D1CABD-CC73-4E51-8958-10D8D8E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SYSTEM FOUNDATIONS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6C68A983-D4EC-4E39-8E33-A3280F60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68880"/>
            <a:ext cx="3931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Consolas"/>
              <a:buNone/>
            </a:pPr>
            <a:r>
              <a:rPr sz="3200" b="1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Privacy • contracts • tests</a:t>
            </a:r>
            <a:endParaRPr sz="3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2DC6FE49-38EA-4608-995B-F736FE1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063240"/>
            <a:ext cx="3931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Boundaries, observability, standards and context make future change safer.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1149CA17-FB52-4509-B184-A6AFB6F6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605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F8F7DC9-5AED-4276-A68F-BB2AD21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605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TWO MODES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B4E6919E-CAA3-444F-9EE1-B760792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A6B92F23-680A-496D-8783-BB58751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13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4292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4D4A2DC0-77A7-4248-92AC-DAAB6AD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13  /  THE ROLE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06B0A1D6-9D2A-4A71-97C6-E8A48E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1A1A1F"/>
                </a:solidFill>
                <a:latin typeface="Georgia"/>
                <a:ea typeface="Georgia"/>
                <a:cs typeface="Georgia"/>
              </a:rPr>
              <a:t>You are gaining more of engineering.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2EC17A-DC40-42B1-975E-06A891E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116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THE AGENTIC BUILDER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C3EFD4B5-F5BD-4712-B7F2-8BABED4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Shapes intent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D41E90A1-C64B-4616-BBC0-5037DE2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529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Designs boundaries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0543F061-5F6F-4D55-98E4-57DE126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36976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Defines evidence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B7ECA970-5DCC-4E83-92E0-E10CCD9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21024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onsolas"/>
              <a:buNone/>
            </a:pPr>
            <a:r>
              <a:rPr sz="1600" b="0" i="0" u="none" cap="none">
                <a:solidFill>
                  <a:srgbClr val="1A1A1F"/>
                </a:solidFill>
                <a:latin typeface="Consolas"/>
                <a:ea typeface="Consolas"/>
                <a:cs typeface="Consolas"/>
              </a:rPr>
              <a:t>Connects the system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2B3716DB-4FF3-41C5-91E7-29E5E29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39"/>
          </a:solidFill>
          <a:ln xmlns:a="http://schemas.openxmlformats.org/drawingml/2006/main" w="12700" cmpd="sng">
            <a:solidFill>
              <a:srgbClr val="FF5C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D400D66-BEB5-4860-840B-6C49D1E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389120"/>
            <a:ext cx="128016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100"/>
              <a:buFont typeface="Consolas"/>
              <a:buNone/>
            </a:pPr>
            <a:r>
              <a:rPr sz="1100" b="1" i="0" u="none" cap="none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BUILDER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10F8A5B-1786-49E1-8D50-8DE073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00DBAE41-9E24-468E-B8BB-9095514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14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5456ead874c42"/>
          <a:stretch xmlns:a="http://schemas.openxmlformats.org/drawingml/2006/main"/>
        </p:blipFill>
        <p:spPr>
          <a:xfrm xmlns:a="http://schemas.openxmlformats.org/drawingml/2006/main">
            <a:off x="6217920" y="2571367"/>
            <a:ext cx="2560320" cy="14409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59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11">
            <a:extLst xmlns:a="http://schemas.openxmlformats.org/drawingml/2006/main">
              <a:ext uri="{FF2B5EF4-FFF2-40B4-BE49-F238E27FC236}">
                <a16:creationId xmlns:a16="http://schemas.microsoft.com/office/drawing/2014/main" id="{AA2EB014-671F-4926-B3CC-F6110043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100"/>
              <a:buFont typeface="Consolas"/>
              <a:buNone/>
            </a:pPr>
            <a:r>
              <a:rPr sz="1100" b="0" i="0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14  /  OVER TO YOU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11">
            <a:extLst xmlns:a="http://schemas.openxmlformats.org/drawingml/2006/main">
              <a:ext uri="{FF2B5EF4-FFF2-40B4-BE49-F238E27FC236}">
                <a16:creationId xmlns:a16="http://schemas.microsoft.com/office/drawing/2014/main" id="{36BC7421-D9BF-4537-9CF0-981EF5E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05840"/>
            <a:ext cx="84124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What will you build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11">
            <a:extLst xmlns:a="http://schemas.openxmlformats.org/drawingml/2006/main">
              <a:ext uri="{FF2B5EF4-FFF2-40B4-BE49-F238E27FC236}">
                <a16:creationId xmlns:a16="http://schemas.microsoft.com/office/drawing/2014/main" id="{84E34CCC-EB35-4371-B5B8-575D8DD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28800"/>
            <a:ext cx="84124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when code is no longer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11">
            <a:extLst xmlns:a="http://schemas.openxmlformats.org/drawingml/2006/main">
              <a:ext uri="{FF2B5EF4-FFF2-40B4-BE49-F238E27FC236}">
                <a16:creationId xmlns:a16="http://schemas.microsoft.com/office/drawing/2014/main" id="{CF360AFB-08A7-463A-8457-A3574938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514600"/>
            <a:ext cx="84124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3800"/>
              <a:buFont typeface="Georgia"/>
              <a:buNone/>
            </a:pPr>
            <a:r>
              <a:rPr sz="3800" b="0" i="1" u="none" cap="none">
                <a:solidFill>
                  <a:srgbClr val="FF5C39"/>
                </a:solidFill>
                <a:latin typeface="Georgia"/>
                <a:ea typeface="Georgia"/>
                <a:cs typeface="Georgia"/>
              </a:rPr>
              <a:t>the bottleneck?</a:t>
            </a:r>
            <a:endParaRPr sz="3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5" name="Google Shape;180;p11"/>
          <p:cNvCxnSpPr/>
          <p:nvPr/>
        </p:nvCxnSpPr>
        <p:spPr>
          <a:xfrm xmlns:a="http://schemas.openxmlformats.org/drawingml/2006/main">
            <a:off x="365760" y="370332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2A2A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30E5695F-ED33-43DC-A41C-39029E20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4048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FAFAF7"/>
                </a:solidFill>
                <a:latin typeface="Calibri"/>
                <a:ea typeface="Calibri"/>
                <a:cs typeface="Calibri"/>
              </a:rPr>
              <a:t>The valuable unit is the loop.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11">
            <a:extLst xmlns:a="http://schemas.openxmlformats.org/drawingml/2006/main">
              <a:ext uri="{FF2B5EF4-FFF2-40B4-BE49-F238E27FC236}">
                <a16:creationId xmlns:a16="http://schemas.microsoft.com/office/drawing/2014/main" id="{048110DF-5E9F-4D1A-A384-37FF6A1D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052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6B6B73"/>
                </a:solidFill>
                <a:latin typeface="Calibri"/>
                <a:ea typeface="Calibri"/>
                <a:cs typeface="Calibri"/>
              </a:rPr>
              <a:t>Curiosity. Intentionality. Judgment. Evidence.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8FCBAC2D-6C84-4B25-BAF4-DFB66C94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8056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5C39"/>
              </a:buClr>
              <a:buSzPts val="1300"/>
              <a:buFont typeface="Consolas"/>
              <a:buNone/>
            </a:pPr>
            <a:r>
              <a:rPr sz="1300" b="0" i="1" u="none" cap="none">
                <a:solidFill>
                  <a:srgbClr val="FF5C39"/>
                </a:solidFill>
                <a:latin typeface="Consolas"/>
                <a:ea typeface="Consolas"/>
                <a:cs typeface="Consolas"/>
              </a:rPr>
              <a:t>Questions?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11">
            <a:extLst xmlns:a="http://schemas.openxmlformats.org/drawingml/2006/main">
              <a:ext uri="{FF2B5EF4-FFF2-40B4-BE49-F238E27FC236}">
                <a16:creationId xmlns:a16="http://schemas.microsoft.com/office/drawing/2014/main" id="{6B0C27BA-3562-4381-845B-5032E6C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00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KEITH PATTON  /  JUNIORDEV AUCKLAND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1">
            <a:extLst xmlns:a="http://schemas.openxmlformats.org/drawingml/2006/main">
              <a:ext uri="{FF2B5EF4-FFF2-40B4-BE49-F238E27FC236}">
                <a16:creationId xmlns:a16="http://schemas.microsoft.com/office/drawing/2014/main" id="{29DB213F-86C4-4A29-8E10-D6C1282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6B73"/>
              </a:buClr>
              <a:buSzPts val="900"/>
              <a:buFont typeface="Consolas"/>
              <a:buNone/>
            </a:pPr>
            <a:r>
              <a:rPr sz="900" b="0" i="0" u="none" cap="none">
                <a:solidFill>
                  <a:srgbClr val="6B6B73"/>
                </a:solidFill>
                <a:latin typeface="Consolas"/>
                <a:ea typeface="Consolas"/>
                <a:cs typeface="Consolas"/>
              </a:rPr>
              <a:t>15 / 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0445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2026-09-01T09:03:12.1130000Z</dcterms:created>
  <dcterms:modified xsi:type="dcterms:W3CDTF">2026-09-01T09:03:12.1130000Z</dcterms:modified>
</coreProperties>
</file>