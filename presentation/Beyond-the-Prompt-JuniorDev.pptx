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11d02624c44293" /><Relationship Type="http://schemas.openxmlformats.org/officeDocument/2006/relationships/extended-properties" Target="/docProps/app.xml" Id="R0b87286aa4744cb5" /><Relationship Type="http://schemas.openxmlformats.org/officeDocument/2006/relationships/officeDocument" Target="/ppt/presentation.xml" Id="Re47b550fb2d343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811b3b938f4529"/>
  </p:sldMasterIdLst>
  <p:notesMasterIdLst>
    <p:notesMasterId xmlns:r="http://schemas.openxmlformats.org/officeDocument/2006/relationships" r:id="Rd26b52bbc2c148cf"/>
  </p:notesMasterIdLst>
  <p:sldIdLst>
    <p:sldId xmlns:r="http://schemas.openxmlformats.org/officeDocument/2006/relationships" id="256" r:id="Rbaba4a821b48476f"/>
    <p:sldId xmlns:r="http://schemas.openxmlformats.org/officeDocument/2006/relationships" id="257" r:id="R6483dc20b9294462"/>
    <p:sldId xmlns:r="http://schemas.openxmlformats.org/officeDocument/2006/relationships" id="258" r:id="Rafcb334d41b347bb"/>
    <p:sldId xmlns:r="http://schemas.openxmlformats.org/officeDocument/2006/relationships" id="259" r:id="Re6ab96742b404adf"/>
    <p:sldId xmlns:r="http://schemas.openxmlformats.org/officeDocument/2006/relationships" id="260" r:id="Rdc793a14e47440a0"/>
    <p:sldId xmlns:r="http://schemas.openxmlformats.org/officeDocument/2006/relationships" id="261" r:id="R1e2a076477fb45d9"/>
    <p:sldId xmlns:r="http://schemas.openxmlformats.org/officeDocument/2006/relationships" id="262" r:id="Rda701d7bb3304b97"/>
    <p:sldId xmlns:r="http://schemas.openxmlformats.org/officeDocument/2006/relationships" id="263" r:id="R0b41253402ff4d95"/>
    <p:sldId xmlns:r="http://schemas.openxmlformats.org/officeDocument/2006/relationships" id="264" r:id="R44cdef3b50604b01"/>
    <p:sldId xmlns:r="http://schemas.openxmlformats.org/officeDocument/2006/relationships" id="265" r:id="Rc2694e9b407740df"/>
    <p:sldId xmlns:r="http://schemas.openxmlformats.org/officeDocument/2006/relationships" id="266" r:id="R3c41e29b27c4462f"/>
    <p:sldId xmlns:r="http://schemas.openxmlformats.org/officeDocument/2006/relationships" id="267" r:id="R577ab34e17604458"/>
    <p:sldId xmlns:r="http://schemas.openxmlformats.org/officeDocument/2006/relationships" id="268" r:id="Rb97febd889874a03"/>
    <p:sldId xmlns:r="http://schemas.openxmlformats.org/officeDocument/2006/relationships" id="269" r:id="R8d77b4cdb9024239"/>
    <p:sldId xmlns:r="http://schemas.openxmlformats.org/officeDocument/2006/relationships" id="270" r:id="Ra662e190b800478b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cc5025d007460c" /><Relationship Type="http://schemas.openxmlformats.org/officeDocument/2006/relationships/slideMaster" Target="/ppt/slideMasters/slideMaster1.xml" Id="R49811b3b938f4529" /><Relationship Type="http://schemas.openxmlformats.org/officeDocument/2006/relationships/notesMaster" Target="/ppt/notesMasters/notesMaster1.xml" Id="Rd26b52bbc2c148cf" /><Relationship Type="http://schemas.openxmlformats.org/officeDocument/2006/relationships/presProps" Target="/ppt/presProps.xml" Id="R04bf903cbb0f48c9" /><Relationship Type="http://schemas.openxmlformats.org/officeDocument/2006/relationships/tableStyles" Target="/ppt/tableStyles.xml" Id="R32dc2bbf1a6c448c" /><Relationship Type="http://schemas.openxmlformats.org/officeDocument/2006/relationships/slide" Target="/ppt/slides/slide1.xml" Id="Rbaba4a821b48476f" /><Relationship Type="http://schemas.openxmlformats.org/officeDocument/2006/relationships/slide" Target="/ppt/slides/slide2.xml" Id="R6483dc20b9294462" /><Relationship Type="http://schemas.openxmlformats.org/officeDocument/2006/relationships/slide" Target="/ppt/slides/slide3.xml" Id="Rafcb334d41b347bb" /><Relationship Type="http://schemas.openxmlformats.org/officeDocument/2006/relationships/slide" Target="/ppt/slides/slide4.xml" Id="Re6ab96742b404adf" /><Relationship Type="http://schemas.openxmlformats.org/officeDocument/2006/relationships/slide" Target="/ppt/slides/slide5.xml" Id="Rdc793a14e47440a0" /><Relationship Type="http://schemas.openxmlformats.org/officeDocument/2006/relationships/slide" Target="/ppt/slides/slide6.xml" Id="R1e2a076477fb45d9" /><Relationship Type="http://schemas.openxmlformats.org/officeDocument/2006/relationships/slide" Target="/ppt/slides/slide7.xml" Id="Rda701d7bb3304b97" /><Relationship Type="http://schemas.openxmlformats.org/officeDocument/2006/relationships/slide" Target="/ppt/slides/slide8.xml" Id="R0b41253402ff4d95" /><Relationship Type="http://schemas.openxmlformats.org/officeDocument/2006/relationships/slide" Target="/ppt/slides/slide9.xml" Id="R44cdef3b50604b01" /><Relationship Type="http://schemas.openxmlformats.org/officeDocument/2006/relationships/slide" Target="/ppt/slides/slide10.xml" Id="Rc2694e9b407740df" /><Relationship Type="http://schemas.openxmlformats.org/officeDocument/2006/relationships/slide" Target="/ppt/slides/slide11.xml" Id="R3c41e29b27c4462f" /><Relationship Type="http://schemas.openxmlformats.org/officeDocument/2006/relationships/slide" Target="/ppt/slides/slide12.xml" Id="R577ab34e17604458" /><Relationship Type="http://schemas.openxmlformats.org/officeDocument/2006/relationships/slide" Target="/ppt/slides/slide13.xml" Id="Rb97febd889874a03" /><Relationship Type="http://schemas.openxmlformats.org/officeDocument/2006/relationships/slide" Target="/ppt/slides/slide14.xml" Id="R8d77b4cdb9024239" /><Relationship Type="http://schemas.openxmlformats.org/officeDocument/2006/relationships/slide" Target="/ppt/slides/slide15.xml" Id="Ra662e190b80047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b7e712a3b14d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6e2935546b4956" /><Relationship Type="http://schemas.openxmlformats.org/officeDocument/2006/relationships/notesMaster" Target="/ppt/notesMasters/notesMaster1.xml" Id="R854c859c65064a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efb0d9bb7544b7" /><Relationship Type="http://schemas.openxmlformats.org/officeDocument/2006/relationships/notesMaster" Target="/ppt/notesMasters/notesMaster1.xml" Id="R29ec7d983f0e45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6037a0669c4ab6" /><Relationship Type="http://schemas.openxmlformats.org/officeDocument/2006/relationships/notesMaster" Target="/ppt/notesMasters/notesMaster1.xml" Id="R5c1a4965ee0747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5aa6cea6594139" /><Relationship Type="http://schemas.openxmlformats.org/officeDocument/2006/relationships/notesMaster" Target="/ppt/notesMasters/notesMaster1.xml" Id="Rc282b4d1af964e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7190c5886f4e3a" /><Relationship Type="http://schemas.openxmlformats.org/officeDocument/2006/relationships/notesMaster" Target="/ppt/notesMasters/notesMaster1.xml" Id="Ree728216468744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bc1ef487b44f47" /><Relationship Type="http://schemas.openxmlformats.org/officeDocument/2006/relationships/notesMaster" Target="/ppt/notesMasters/notesMaster1.xml" Id="Reabdc457b3504d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fb4ffacfa74140" /><Relationship Type="http://schemas.openxmlformats.org/officeDocument/2006/relationships/notesMaster" Target="/ppt/notesMasters/notesMaster1.xml" Id="Rccf2b946cbb044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0c751de2b84d64" /><Relationship Type="http://schemas.openxmlformats.org/officeDocument/2006/relationships/notesMaster" Target="/ppt/notesMasters/notesMaster1.xml" Id="Rff7ec0905fc64b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7eebcf1d504352" /><Relationship Type="http://schemas.openxmlformats.org/officeDocument/2006/relationships/notesMaster" Target="/ppt/notesMasters/notesMaster1.xml" Id="R8313d4b1d2274e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57536066704416" /><Relationship Type="http://schemas.openxmlformats.org/officeDocument/2006/relationships/notesMaster" Target="/ppt/notesMasters/notesMaster1.xml" Id="R9e5b2cffd5d34f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5661c28e104f99" /><Relationship Type="http://schemas.openxmlformats.org/officeDocument/2006/relationships/notesMaster" Target="/ppt/notesMasters/notesMaster1.xml" Id="R7a797d06c5da4b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7cbf3db1e1461b" /><Relationship Type="http://schemas.openxmlformats.org/officeDocument/2006/relationships/notesMaster" Target="/ppt/notesMasters/notesMaster1.xml" Id="R3f92670959a245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de6833a7e343c1" /><Relationship Type="http://schemas.openxmlformats.org/officeDocument/2006/relationships/notesMaster" Target="/ppt/notesMasters/notesMaster1.xml" Id="R5b70b8e480814f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c01ec7642d645bf" /><Relationship Type="http://schemas.openxmlformats.org/officeDocument/2006/relationships/notesMaster" Target="/ppt/notesMasters/notesMaster1.xml" Id="Rd48f9f3e798d4b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c72dbceffeb4c64" /><Relationship Type="http://schemas.openxmlformats.org/officeDocument/2006/relationships/notesMaster" Target="/ppt/notesMasters/notesMaster1.xml" Id="R224d1d6ddfc646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0:00–0:45 — Promise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Promise: I will show a small control system that lets agents do more work while your judgement remains visible.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Say: You already know an AI can produce code. The interesting question is how we remain responsible for what gets built.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0:45–2:30 — Personal history and empathy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Tell the Wrox-book story: no Stack Overflow, a CRT, huge red books and coffee as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Joke: some of you were not born; some of those books were nearly as heavy as you.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Connect young and old: the fear is different, but both generations face an unfamiliar shift in what competence looks like.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presentation/assets/late-90s-developer.png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2:30–3:45 — Core thesis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Pause after “It is the loop.”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prompt is a moment. A loop keeps intent, challenge, decisions, evidence and memory visible.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stronger gates only when ambiguity, consequence or blast radius earns them.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3:45–5:15 — A prompt begins, discussion shapes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human does not need a complete specification. They do need to stay present while the idea acquires meaning.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presentation/demo/01-idea-discussion.md. Read only the starting request, two questions and the reframed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“The idea changed before the code did.”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5:15–6:45 — Three human control moments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Shape the task. Authorise consequential decisions. Evaluate the result.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Between those checkpoints, agents may explore, draft, implement, test and recover.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human is not absent; human attention is moved to higher-leverage moments.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6:45–8:15 — Checkpoints, not token watching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 not confuse ownership with watching every edit. Spend scarce human attention where consequences change: intent, risk, uncertainty, irreversible choices, approval and proof.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Transition: we need a portable way to remember those gates.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8:15–9:45 — The small Task Automation Framework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TAF is plain Markdown: intake, plan and challenge, approval and proof. It is deliberately model-agnostic and proportionate.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plans/README.md at “Planning loop,” then presentation/demo/02-plan-v1.md.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“A plan is a proposal, not permission.”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https://www.anthropic.com/engineering/building-effective-agents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9:45–12:15 — Socratic adversarial loop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Point at the flow: propose → challenge → revise. The loop recurs against criteria and evidence, then reaches a human checkpoint.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not agents arguing until truth appears. Long debates can drift. Keep roles bounded, findings criterion-based, and iteration capped.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presentation/demo/03-socratic-plan-review.md. Show one finding, its evidence and required revision. Then open 04-approved-plan.md.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move directly to the human-gate slide.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https://proceedings.mlr.press/v235/du24e.html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https://arxiv.org/abs/2303.17651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https://aclanthology.org/2026.findings-eacl.268/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presentation/assets/socratic-adversary.png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12:15–13:15 — Human approval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agent can recommend an outcome, architecture, boundary or proof strategy. It cannot accept accountability for the consequence.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Approval does not mean reviewing every line. It means owning the decision frame and any explicit deferrals.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13:15–15:15 — Orchestration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Agents are strong at exploration, drafting, implementation, comparison and recovery. Humans own intent, risk, approval and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presentation/demo/05-build-up.md, then the relevant recommendation code in app.js. Show the running app for no more than 20 seconds: “yes, agents can build software—whoop-de-doo.”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the useful question is whether the output matches the approved contract.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15:15–17:30 — Evaluate claims, not performance theatre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outcome, boundaries and reality as three review lenses.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presentation/demo/06-strengthen-across.md, then data-boundaries.js and privacy.test.js. Optionally run npm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Tell the real recovery: one rehearsal had green unit tests and a broken browser module load. Runtime evidence caught what the focused test did not.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https://www.anthropic.com/engineering/demystifying-evals-for-ai-agents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Local evidence: docs/validation/VALIDATION-REPORT.md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17:30–20:00 — Bonsai and metacognition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planning trail records how meaning changed. The spine describes what the system means now.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Love this layer: product, language, architecture, seams, invariants, evidence, direction and deferrals. Prune it. Do not dump chat history into it.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docs/spine/README.md and docs/spine/INVARIANTS.md. Run npm run test:spine. Explain that the guard proves structure, not wisdom.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“We are gardening the conditions in which future work grows.”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presentation/assets/context-spine-bonsai.png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20:00–22:15 — Build up and strengthen across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Feature slices build upward through outcome, flow, behaviour and feedback. Foundations strengthen across slices: privacy, contracts, tests, observability, standards and context.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Historically these concerns often crossed roles and teams. An agentic builder can context-switch between them rapidly, while still knowing when specialist judgement is required.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Point back to the two prepared files: 05-build-up.md and 06-strengthen-across.md.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22:15–24:00 — The agentic builder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not instant seniority and not the end of technical foundations. It is earlier access to product intent, architecture, operations, risk and evidence.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role becomes part engineer, architect, product thinker, editor and gardener of a living system. Curiosity, intentionality and judgement matter more because reach has increased.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presentation/assets/agentic-builder-gardener.png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24:00–25:30 — Resolve and questions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to the opening promise: the point was never that AI can type code. It was that a visible loop lets agents build while humans keep consequential judgement.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Question: what will you build when code is no longer the bottleneck?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 25:30, stop. Leave this slide visible for questions.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f431d13c724e1b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8b5024ad544dd4" /><Relationship Type="http://schemas.openxmlformats.org/officeDocument/2006/relationships/slideLayout" Target="/ppt/slideLayouts/slideLayout1.xml" Id="R56073974c18643d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073974c18643d7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4acc434514254" /><Relationship Type="http://schemas.openxmlformats.org/officeDocument/2006/relationships/notesSlide" Target="/ppt/notesSlides/notesSlide1.xml" Id="Ra5d2b5bf264843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ef28758f5493e" /><Relationship Type="http://schemas.openxmlformats.org/officeDocument/2006/relationships/image" Target="/ppt/media/image.png" Id="R8eb9238aa7e34e7d" /><Relationship Type="http://schemas.openxmlformats.org/officeDocument/2006/relationships/notesSlide" Target="/ppt/notesSlides/notesSlide2.xml" Id="R3d816644896b45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158bc2ead4209" /><Relationship Type="http://schemas.openxmlformats.org/officeDocument/2006/relationships/notesSlide" Target="/ppt/notesSlides/notesSlide3.xml" Id="Rff2e2bcc43044a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d99ceddf74cc2" /><Relationship Type="http://schemas.openxmlformats.org/officeDocument/2006/relationships/notesSlide" Target="/ppt/notesSlides/notesSlide4.xml" Id="R3fe302d21dc64a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689d884c642c0" /><Relationship Type="http://schemas.openxmlformats.org/officeDocument/2006/relationships/notesSlide" Target="/ppt/notesSlides/notesSlide5.xml" Id="R60eb3176b8b04c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76d0099db4609" /><Relationship Type="http://schemas.openxmlformats.org/officeDocument/2006/relationships/notesSlide" Target="/ppt/notesSlides/notesSlide6.xml" Id="Re9af0debce4645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eccaa5aa34f43" /><Relationship Type="http://schemas.openxmlformats.org/officeDocument/2006/relationships/notesSlide" Target="/ppt/notesSlides/notesSlide7.xml" Id="Rbf96411f1f2b42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fc8afe48d4227" /><Relationship Type="http://schemas.openxmlformats.org/officeDocument/2006/relationships/image" Target="/ppt/media/image2.png" Id="Rd12061609475413a" /><Relationship Type="http://schemas.openxmlformats.org/officeDocument/2006/relationships/notesSlide" Target="/ppt/notesSlides/notesSlide8.xml" Id="R205a12628c2541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487d7fa3647f4" /><Relationship Type="http://schemas.openxmlformats.org/officeDocument/2006/relationships/notesSlide" Target="/ppt/notesSlides/notesSlide9.xml" Id="Rafef63b4467a4a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157d9b748a44bb" /><Relationship Type="http://schemas.openxmlformats.org/officeDocument/2006/relationships/notesSlide" Target="/ppt/notesSlides/notesSlide10.xml" Id="R0d709a9144504a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a4a08ee4e4cfa" /><Relationship Type="http://schemas.openxmlformats.org/officeDocument/2006/relationships/notesSlide" Target="/ppt/notesSlides/notesSlide11.xml" Id="R1f74a68b30174a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298e92f2f418e" /><Relationship Type="http://schemas.openxmlformats.org/officeDocument/2006/relationships/image" Target="/ppt/media/image3.png" Id="R4808161f395b4b77" /><Relationship Type="http://schemas.openxmlformats.org/officeDocument/2006/relationships/notesSlide" Target="/ppt/notesSlides/notesSlide12.xml" Id="Rfdd2e60554bf40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f53c7dc964592" /><Relationship Type="http://schemas.openxmlformats.org/officeDocument/2006/relationships/notesSlide" Target="/ppt/notesSlides/notesSlide13.xml" Id="Re5232584051c4a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ef91dece248b2" /><Relationship Type="http://schemas.openxmlformats.org/officeDocument/2006/relationships/image" Target="/ppt/media/image4.png" Id="Rb8f30c094ef2411a" /><Relationship Type="http://schemas.openxmlformats.org/officeDocument/2006/relationships/notesSlide" Target="/ppt/notesSlides/notesSlide14.xml" Id="Ra6c43f383ce04b4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c8713c1244c80" /><Relationship Type="http://schemas.openxmlformats.org/officeDocument/2006/relationships/notesSlide" Target="/ppt/notesSlides/notesSlide15.xml" Id="R95ac88ee7ffc45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A9CA3F1F-FD6A-4617-8477-BBEE1D1F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JUNIORDEV AUCKLAND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31" name="Google Shape;17;p3"/>
          <p:cNvCxnSpPr/>
          <p:nvPr/>
        </p:nvCxnSpPr>
        <p:spPr>
          <a:xfrm xmlns:a="http://schemas.openxmlformats.org/drawingml/2006/main">
            <a:off x="365760" y="713232"/>
            <a:ext cx="84124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2A2A3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C1C67A93-3F78-4A01-942B-D95683BD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BEYOND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3C2E1233-2111-40E6-85BB-FE3B6274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F5C39"/>
                </a:solidFill>
                <a:latin typeface="Impact"/>
                <a:ea typeface="Impact"/>
                <a:cs typeface="Impact"/>
              </a:rPr>
              <a:t>THE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6AD023BB-3329-4BC2-B26A-3AD28C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260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F5C39"/>
                </a:solidFill>
                <a:latin typeface="Impact"/>
                <a:ea typeface="Impact"/>
                <a:cs typeface="Impact"/>
              </a:rPr>
              <a:t>PROMPT.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01FB12C2-DE81-4984-821F-22E64C12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1605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600"/>
              <a:buFont typeface="Calibri"/>
              <a:buNone/>
            </a:pPr>
            <a:r>
              <a:rPr sz="1600" b="0" i="0" u="none" cap="none">
                <a:solidFill>
                  <a:srgbClr val="FAFAF7"/>
                </a:solidFill>
                <a:latin typeface="Calibri"/>
                <a:ea typeface="Calibri"/>
                <a:cs typeface="Calibri"/>
              </a:rPr>
              <a:t>Keith Patton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7C641219-0DFA-431F-A589-E445CB26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62272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alibri"/>
              <a:buNone/>
            </a:pPr>
            <a:r>
              <a:rPr sz="11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Software engineering &amp; technology leader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7CF451C5-7390-45E3-BE5A-3682783A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0060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AUCKLAND  /  SEPTEMBER 2026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63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01  /  BEFORE AGENTS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I used to write every line myself.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LATE 1990s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No Stack Overflow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Enormous red books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One exhausted developer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Coffee as architecture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1998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02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9238aa7e34e7d"/>
          <a:srcRect xmlns:a="http://schemas.openxmlformats.org/drawingml/2006/main" l="0" t="7143" r="0" b="7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4DE29C2F-2790-4566-9284-819FC599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02  /  THE TURN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D7B4F82F-AFA5-4E49-AAA7-9BBB4A5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22960"/>
            <a:ext cx="1371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0"/>
              <a:buFont typeface="Georgia"/>
              <a:buNone/>
            </a:pPr>
            <a:r>
              <a:rPr sz="14000" b="0" i="0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“</a:t>
            </a:r>
            <a:endParaRPr sz="14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22D5573E-9A99-4AD6-8C4F-8D1236D4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9164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The valuable unit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30CF7035-C27C-44BE-A3B6-E531734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is not the prompt.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419AEF-81CA-4797-89D1-FBCF28AD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4612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It is the loop.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888E591B-8899-45BA-9885-07D03E80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25196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onsolas"/>
              <a:buNone/>
            </a:pPr>
            <a:r>
              <a:rPr sz="13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(judgement stays visible)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A348EB23-2B5B-4807-B543-3781B07B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AEA5B1A1-03A0-45BA-AF03-84FBC055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03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2600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03  /  BEGIN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A prompt begins the work.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HUMAN BRINGS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Intent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Consequences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Constraints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Unknowns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SHOW THE TRAIL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04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4" name="begin-idea">
            <a:extLst xmlns:a="http://schemas.openxmlformats.org/drawingml/2006/main">
              <a:ext uri="{FF2B5EF4-FFF2-40B4-BE49-F238E27FC236}">
                <a16:creationId xmlns:a16="http://schemas.microsoft.com/office/drawing/2014/main" id="{38412816-FF89-4258-9549-501679C4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IDEA</a:t>
            </a:r>
          </a:p>
        </p:txBody>
      </p:sp>
      <p:sp>
        <p:nvSpPr>
          <p:cNvPr id="155" name="begin-discussion">
            <a:extLst xmlns:a="http://schemas.openxmlformats.org/drawingml/2006/main">
              <a:ext uri="{FF2B5EF4-FFF2-40B4-BE49-F238E27FC236}">
                <a16:creationId xmlns:a16="http://schemas.microsoft.com/office/drawing/2014/main" id="{571D6EA4-8ED0-48C5-A973-2154FD45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480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668">
            <a:solidFill>
              <a:srgbClr val="FF5C3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DISCUSSION</a:t>
            </a:r>
          </a:p>
        </p:txBody>
      </p:sp>
      <p:sp>
        <p:nvSpPr>
          <p:cNvPr id="156" name="begin-plan">
            <a:extLst xmlns:a="http://schemas.openxmlformats.org/drawingml/2006/main">
              <a:ext uri="{FF2B5EF4-FFF2-40B4-BE49-F238E27FC236}">
                <a16:creationId xmlns:a16="http://schemas.microsoft.com/office/drawing/2014/main" id="{86F0825E-D34E-452B-8774-E2542696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PLAN</a:t>
            </a:r>
          </a:p>
        </p:txBody>
      </p:sp>
      <p:cxnSp>
        <p:nvCxnSpPr>
          <p:cNvPr id="173" name=""/>
          <p:cNvCxnSpPr>
            <a:stCxn xmlns:a="http://schemas.openxmlformats.org/drawingml/2006/main" id="154" idx="2"/>
            <a:endCxn xmlns:a="http://schemas.openxmlformats.org/drawingml/2006/main" id="155" idx="0"/>
          </p:cNvCxnSpPr>
          <p:nvPr/>
        </p:nvCxnSpPr>
        <p:spPr>
          <a:xfrm xmlns:a="http://schemas.openxmlformats.org/drawingml/2006/main">
            <a:off x="7486650" y="280035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C39"/>
            </a:solidFill>
            <a:prstDash val="solid"/>
            <a:tailEnd type="arrow" w="sm" len="sm"/>
          </a:ln>
        </p:spPr>
      </p:cxnSp>
      <p:cxnSp>
        <p:nvCxnSpPr>
          <p:cNvPr id="174" name=""/>
          <p:cNvCxnSpPr>
            <a:stCxn xmlns:a="http://schemas.openxmlformats.org/drawingml/2006/main" id="155" idx="2"/>
            <a:endCxn xmlns:a="http://schemas.openxmlformats.org/drawingml/2006/main" id="156" idx="0"/>
          </p:cNvCxnSpPr>
          <p:nvPr/>
        </p:nvCxnSpPr>
        <p:spPr>
          <a:xfrm xmlns:a="http://schemas.openxmlformats.org/drawingml/2006/main">
            <a:off x="7486650" y="35052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C39"/>
            </a:solidFill>
            <a:prstDash val="soli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7">
            <a:extLst xmlns:a="http://schemas.openxmlformats.org/drawingml/2006/main">
              <a:ext uri="{FF2B5EF4-FFF2-40B4-BE49-F238E27FC236}">
                <a16:creationId xmlns:a16="http://schemas.microsoft.com/office/drawing/2014/main" id="{AEBA2229-F360-4C79-AE4A-E4451F8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04  /  HUMAN CONTROL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" name="Google Shape;89;p7">
            <a:extLst xmlns:a="http://schemas.openxmlformats.org/drawingml/2006/main">
              <a:ext uri="{FF2B5EF4-FFF2-40B4-BE49-F238E27FC236}">
                <a16:creationId xmlns:a16="http://schemas.microsoft.com/office/drawing/2014/main" id="{34C31EFD-E8A7-488E-8F59-D8DAE8F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The loop keeps the human inside the work.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0" name="Google Shape;90;p7">
            <a:extLst xmlns:a="http://schemas.openxmlformats.org/drawingml/2006/main">
              <a:ext uri="{FF2B5EF4-FFF2-40B4-BE49-F238E27FC236}">
                <a16:creationId xmlns:a16="http://schemas.microsoft.com/office/drawing/2014/main" id="{AC99229D-BB2A-43A3-B473-188BEB1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0D17BFB2-7B7E-4FCE-9BE7-4D29B48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SHAPE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8A30198E-A420-4EA5-9060-201E5183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Interrogate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B87E0CEF-F55F-4849-A54D-89DE7BC4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Surface assumptions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7">
            <a:extLst xmlns:a="http://schemas.openxmlformats.org/drawingml/2006/main">
              <a:ext uri="{FF2B5EF4-FFF2-40B4-BE49-F238E27FC236}">
                <a16:creationId xmlns:a16="http://schemas.microsoft.com/office/drawing/2014/main" id="{F5E7AC58-2036-4EE6-8530-D7E4A7BA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Plan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85958F6E-0045-4F77-940F-44594AF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Challenge the plan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949305CD-0889-40C9-9BF0-4A3CCFF8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1C483DEF-D76D-4B42-935D-5CF2574D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99949900-1EB7-4C3A-8F96-A2D01F12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AUTHORISE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0D9CC4B2-342E-4E76-8C75-A5D6E9D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Choose the outcome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8BC27081-1C63-4017-A213-99B5C23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Own trade-offs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8C610C55-8C70-4467-BFDC-5649106D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Set the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EA553613-A2B0-4908-8E56-2E24510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Approve or redirect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3ABD8C39-99DD-441E-AC88-A0C9F637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480D3978-4999-4837-9382-907DAF09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DC6C0E04-D023-4670-94F5-C7DF6AC1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EVALUATE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F6E9E4F2-57A4-4FAB-B0F2-3A3B8EE6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Inspect the result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3031252F-C35B-4BC1-A924-7ED46489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Test boundaries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D0C9AE17-6B23-4533-848F-A190FC45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Judge the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D61B3C5D-CF66-43F0-8C36-25CDD4FE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Update the context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3CE00B5F-B1BD-4380-8770-F3BE6A90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A9ED79D7-F73A-4A1E-B2C6-0DC923C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05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37347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5920FDF9-8F4E-486B-A0E6-76A1633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05  /  CHECKPOINTS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9EE91708-0FC8-4C29-8F76-3732BD2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800"/>
              <a:buFont typeface="Georgia"/>
              <a:buNone/>
            </a:pPr>
            <a:r>
              <a:rPr sz="4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SPEND HUMAN ATTENTION ON CONSEQUENCES.</a:t>
            </a:r>
            <a:endParaRPr sz="4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4EC88FD9-0113-4070-8ABB-F098A917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DO NOT REVIEW EVERY TOKEN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9CD1E61B-C107-4621-99EB-013588D5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Generation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D9E92D5-00DF-45A6-8BB7-81F7D41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7977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Edits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B5A9780-32F2-4275-AFB7-D8426509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090672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Retries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522E238B-04B4-4157-AC3D-4CBDBFE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01568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Tool calls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D3A4F75A-C35D-43AC-9B31-3FB080D7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1246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Implementation detail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18" name="Google Shape;75;p6"/>
          <p:cNvCxnSpPr/>
          <p:nvPr/>
        </p:nvCxnSpPr>
        <p:spPr>
          <a:xfrm xmlns:a="http://schemas.openxmlformats.org/drawingml/2006/main">
            <a:off x="4572000" y="2103120"/>
            <a:ext cx="0" cy="22860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5E3D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E5D1CABD-CC73-4E51-8958-10D8D8E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CHECK IN AT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6C68A983-D4EC-4E39-8E33-A3280F60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46888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200"/>
              <a:buFont typeface="Consolas"/>
              <a:buNone/>
            </a:pPr>
            <a:r>
              <a:rPr sz="3200" b="1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Consequential moments</a:t>
            </a:r>
            <a:endParaRPr sz="3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2DC6FE49-38EA-4608-995B-F736FE13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931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Intent • risk • uncertainty • irreversible choices • approval • proof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1149CA17-FB52-4509-B184-A6AFB6F6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3F8F7DC9-5AED-4276-A68F-BB2AD215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CHECKPOINT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B4E6919E-CAA3-444F-9EE1-B760792C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A6B92F23-680A-496D-8783-BB58751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06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64292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7">
            <a:extLst xmlns:a="http://schemas.openxmlformats.org/drawingml/2006/main">
              <a:ext uri="{FF2B5EF4-FFF2-40B4-BE49-F238E27FC236}">
                <a16:creationId xmlns:a16="http://schemas.microsoft.com/office/drawing/2014/main" id="{AEBA2229-F360-4C79-AE4A-E4451F8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06  /  THE TAF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" name="Google Shape;89;p7">
            <a:extLst xmlns:a="http://schemas.openxmlformats.org/drawingml/2006/main">
              <a:ext uri="{FF2B5EF4-FFF2-40B4-BE49-F238E27FC236}">
                <a16:creationId xmlns:a16="http://schemas.microsoft.com/office/drawing/2014/main" id="{34C31EFD-E8A7-488E-8F59-D8DAE8F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A small Markdown layer makes the gates portable.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0" name="Google Shape;90;p7">
            <a:extLst xmlns:a="http://schemas.openxmlformats.org/drawingml/2006/main">
              <a:ext uri="{FF2B5EF4-FFF2-40B4-BE49-F238E27FC236}">
                <a16:creationId xmlns:a16="http://schemas.microsoft.com/office/drawing/2014/main" id="{AC99229D-BB2A-43A3-B473-188BEB1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0D17BFB2-7B7E-4FCE-9BE7-4D29B48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INTAKE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8A30198E-A420-4EA5-9060-201E5183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Problem + outcome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B87E0CEF-F55F-4849-A54D-89DE7BC4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Questions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7">
            <a:extLst xmlns:a="http://schemas.openxmlformats.org/drawingml/2006/main">
              <a:ext uri="{FF2B5EF4-FFF2-40B4-BE49-F238E27FC236}">
                <a16:creationId xmlns:a16="http://schemas.microsoft.com/office/drawing/2014/main" id="{F5E7AC58-2036-4EE6-8530-D7E4A7BA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Assumptions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85958F6E-0045-4F77-940F-44594AF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Unknowns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949305CD-0889-40C9-9BF0-4A3CCFF8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1C483DEF-D76D-4B42-935D-5CF2574D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99949900-1EB7-4C3A-8F96-A2D01F12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PLAN + CHALLENGE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0D9CC4B2-342E-4E76-8C75-A5D6E9D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Proposal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8BC27081-1C63-4017-A213-99B5C23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Criteria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8C610C55-8C70-4467-BFDC-5649106D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Critique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EA553613-A2B0-4908-8E56-2E24510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Revision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3ABD8C39-99DD-441E-AC88-A0C9F637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480D3978-4999-4837-9382-907DAF09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DC6C0E04-D023-4670-94F5-C7DF6AC1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APPROVAL + PROOF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F6E9E4F2-57A4-4FAB-B0F2-3A3B8EE6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Human gate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3031252F-C35B-4BC1-A924-7ED46489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Execution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D0C9AE17-6B23-4533-848F-A190FC45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Remaining risk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D61B3C5D-CF66-43F0-8C36-25CDD4FE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Durable learning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3CE00B5F-B1BD-4380-8770-F3BE6A90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A9ED79D7-F73A-4A1E-B2C6-0DC923C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07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37347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07  /  SOCRATIC LOOP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The core loop is Socratic.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CHALLENGE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08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061609475413a"/>
          <a:srcRect xmlns:a="http://schemas.openxmlformats.org/drawingml/2006/main" l="17170" t="0" r="171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</p:spPr>
      </p:pic>
      <p:sp>
        <p:nvSpPr>
          <p:cNvPr id="155" name="socratic-propose">
            <a:extLst xmlns:a="http://schemas.openxmlformats.org/drawingml/2006/main">
              <a:ext uri="{FF2B5EF4-FFF2-40B4-BE49-F238E27FC236}">
                <a16:creationId xmlns:a16="http://schemas.microsoft.com/office/drawing/2014/main" id="{D163C4FF-1603-4374-93BA-1EBD41E2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PROPOSE</a:t>
            </a:r>
          </a:p>
        </p:txBody>
      </p:sp>
      <p:sp>
        <p:nvSpPr>
          <p:cNvPr id="156" name="socratic-challenge">
            <a:extLst xmlns:a="http://schemas.openxmlformats.org/drawingml/2006/main">
              <a:ext uri="{FF2B5EF4-FFF2-40B4-BE49-F238E27FC236}">
                <a16:creationId xmlns:a16="http://schemas.microsoft.com/office/drawing/2014/main" id="{F0C2B1D8-F31C-410C-90B3-DCE23B85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668">
            <a:solidFill>
              <a:srgbClr val="FF5C3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CHALLENGE</a:t>
            </a:r>
          </a:p>
        </p:txBody>
      </p:sp>
      <p:sp>
        <p:nvSpPr>
          <p:cNvPr id="157" name="socratic-revise">
            <a:extLst xmlns:a="http://schemas.openxmlformats.org/drawingml/2006/main">
              <a:ext uri="{FF2B5EF4-FFF2-40B4-BE49-F238E27FC236}">
                <a16:creationId xmlns:a16="http://schemas.microsoft.com/office/drawing/2014/main" id="{93269ECA-5D9B-45F4-9DF8-D9513F3E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REVISE</a:t>
            </a:r>
          </a:p>
        </p:txBody>
      </p:sp>
      <p:sp>
        <p:nvSpPr>
          <p:cNvPr id="158" name="socratic-human">
            <a:extLst xmlns:a="http://schemas.openxmlformats.org/drawingml/2006/main">
              <a:ext uri="{FF2B5EF4-FFF2-40B4-BE49-F238E27FC236}">
                <a16:creationId xmlns:a16="http://schemas.microsoft.com/office/drawing/2014/main" id="{6771F4C6-4D4A-4E11-99BD-B8F23C9A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81400"/>
            <a:ext cx="2171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HUMAN CHECKPOINT</a:t>
            </a:r>
          </a:p>
          <a:p xmlns:a="http://schemas.openxmlformats.org/drawingml/2006/main">
            <a:pPr algn="ctr">
              <a:defRPr sz="1050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approve or redirect</a:t>
            </a:r>
          </a:p>
        </p:txBody>
      </p:sp>
      <p:cxnSp>
        <p:nvCxnSpPr>
          <p:cNvPr id="175" name=""/>
          <p:cNvCxnSpPr>
            <a:stCxn xmlns:a="http://schemas.openxmlformats.org/drawingml/2006/main" id="155" idx="3"/>
            <a:endCxn xmlns:a="http://schemas.openxmlformats.org/drawingml/2006/main" id="156" idx="1"/>
          </p:cNvCxnSpPr>
          <p:nvPr/>
        </p:nvCxnSpPr>
        <p:spPr>
          <a:xfrm xmlns:a="http://schemas.openxmlformats.org/drawingml/2006/main">
            <a:off x="1623060" y="2638425"/>
            <a:ext cx="45339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cxnSp>
        <p:nvCxnSpPr>
          <p:cNvPr id="176" name=""/>
          <p:cNvCxnSpPr>
            <a:stCxn xmlns:a="http://schemas.openxmlformats.org/drawingml/2006/main" id="156" idx="3"/>
            <a:endCxn xmlns:a="http://schemas.openxmlformats.org/drawingml/2006/main" id="157" idx="1"/>
          </p:cNvCxnSpPr>
          <p:nvPr/>
        </p:nvCxnSpPr>
        <p:spPr>
          <a:xfrm xmlns:a="http://schemas.openxmlformats.org/drawingml/2006/main">
            <a:off x="3333750" y="26384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cxnSp>
        <p:nvCxnSpPr>
          <p:cNvPr id="177" name=""/>
          <p:cNvCxnSpPr>
            <a:stCxn xmlns:a="http://schemas.openxmlformats.org/drawingml/2006/main" id="157" idx="2"/>
            <a:endCxn xmlns:a="http://schemas.openxmlformats.org/drawingml/2006/main" id="156" idx="2"/>
          </p:cNvCxnSpPr>
          <p:nvPr/>
        </p:nvCxnSpPr>
        <p:spPr>
          <a:xfrm xmlns:a="http://schemas.openxmlformats.org/drawingml/2006/main" flipH="1">
            <a:off x="2705100" y="2914650"/>
            <a:ext cx="1714500" cy="2286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FF5C39"/>
            </a:solidFill>
            <a:prstDash val="dash"/>
            <a:tailEnd type="arrow" w="sm" len="sm"/>
          </a:ln>
        </p:spPr>
      </p:cxnSp>
      <p:cxnSp>
        <p:nvCxnSpPr>
          <p:cNvPr id="178" name=""/>
          <p:cNvCxnSpPr>
            <a:stCxn xmlns:a="http://schemas.openxmlformats.org/drawingml/2006/main" id="157" idx="2"/>
            <a:endCxn xmlns:a="http://schemas.openxmlformats.org/drawingml/2006/main" id="158" idx="0"/>
          </p:cNvCxnSpPr>
          <p:nvPr/>
        </p:nvCxnSpPr>
        <p:spPr>
          <a:xfrm xmlns:a="http://schemas.openxmlformats.org/drawingml/2006/main">
            <a:off x="4419600" y="2914650"/>
            <a:ext cx="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sp>
        <p:nvSpPr>
          <p:cNvPr id="163" name="socratic-criteria">
            <a:extLst xmlns:a="http://schemas.openxmlformats.org/drawingml/2006/main">
              <a:ext uri="{FF2B5EF4-FFF2-40B4-BE49-F238E27FC236}">
                <a16:creationId xmlns:a16="http://schemas.microsoft.com/office/drawing/2014/main" id="{A62E1BB5-CEE8-48ED-9183-B14AEFA0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481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B73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criteria + evidence keep the loop honest</a:t>
            </a:r>
          </a:p>
        </p:txBody>
      </p: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4DE29C2F-2790-4566-9284-819FC599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08  /  HUMAN GATE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D7B4F82F-AFA5-4E49-AAA7-9BBB4A5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22960"/>
            <a:ext cx="1371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0"/>
              <a:buFont typeface="Georgia"/>
              <a:buNone/>
            </a:pPr>
            <a:r>
              <a:rPr sz="14000" b="0" i="0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“</a:t>
            </a:r>
            <a:endParaRPr sz="14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22D5573E-9A99-4AD6-8C4F-8D1236D4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9164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The agent can propose.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30CF7035-C27C-44BE-A3B6-E531734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It cannot own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419AEF-81CA-4797-89D1-FBCF28AD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4612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the decision.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888E591B-8899-45BA-9885-07D03E80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25196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onsolas"/>
              <a:buNone/>
            </a:pPr>
            <a:r>
              <a:rPr sz="13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(outcome • risk • approval • accountability)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A348EB23-2B5B-4807-B543-3781B07B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AEA5B1A1-03A0-45BA-AF03-84FBC055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09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26009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09  /  ORCHESTRATE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Delegate the work. Keep the decision frame.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AGENT STRENGTHS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Explore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Draft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Implement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Compare + recover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SHOW THE WORK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10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4" name="human-ownership-frame">
            <a:extLst xmlns:a="http://schemas.openxmlformats.org/drawingml/2006/main">
              <a:ext uri="{FF2B5EF4-FFF2-40B4-BE49-F238E27FC236}">
                <a16:creationId xmlns:a16="http://schemas.microsoft.com/office/drawing/2014/main" id="{4257DA20-013E-4C62-AE55-C8E54414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2"/>
          </a:solidFill>
          <a:ln xmlns:a="http://schemas.openxmlformats.org/drawingml/2006/main" w="12668">
            <a:solidFill>
              <a:srgbClr val="101012"/>
            </a:solidFill>
            <a:prstDash val="solid"/>
          </a:ln>
        </p:spPr>
      </p:sp>
      <p:sp>
        <p:nvSpPr>
          <p:cNvPr id="155" name="human-ownership-label">
            <a:extLst xmlns:a="http://schemas.openxmlformats.org/drawingml/2006/main">
              <a:ext uri="{FF2B5EF4-FFF2-40B4-BE49-F238E27FC236}">
                <a16:creationId xmlns:a16="http://schemas.microsoft.com/office/drawing/2014/main" id="{560109A3-B9CA-412A-9E8D-C06718D0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5C39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HUMAN OWNS</a:t>
            </a:r>
          </a:p>
        </p:txBody>
      </p:sp>
      <p:sp>
        <p:nvSpPr>
          <p:cNvPr id="156" name="human-ownership-list">
            <a:extLst xmlns:a="http://schemas.openxmlformats.org/drawingml/2006/main">
              <a:ext uri="{FF2B5EF4-FFF2-40B4-BE49-F238E27FC236}">
                <a16:creationId xmlns:a16="http://schemas.microsoft.com/office/drawing/2014/main" id="{2B1CF962-0E83-41EB-8153-1DE2E32C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0350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Intent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Risk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Approval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Outcome</a:t>
            </a:r>
          </a:p>
        </p:txBody>
      </p: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Google Shape;117;p8">
            <a:extLst xmlns:a="http://schemas.openxmlformats.org/drawingml/2006/main">
              <a:ext uri="{FF2B5EF4-FFF2-40B4-BE49-F238E27FC236}">
                <a16:creationId xmlns:a16="http://schemas.microsoft.com/office/drawing/2014/main" id="{16C5A624-7BF4-42C5-813B-0517946D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10  /  EVALUATE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Google Shape;118;p8">
            <a:extLst xmlns:a="http://schemas.openxmlformats.org/drawingml/2006/main">
              <a:ext uri="{FF2B5EF4-FFF2-40B4-BE49-F238E27FC236}">
                <a16:creationId xmlns:a16="http://schemas.microsoft.com/office/drawing/2014/main" id="{6C0109E1-BB52-4B5C-B53D-9F6A6CC0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86868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Check in on claims, not lines.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Google Shape;119;p8">
            <a:extLst xmlns:a="http://schemas.openxmlformats.org/drawingml/2006/main">
              <a:ext uri="{FF2B5EF4-FFF2-40B4-BE49-F238E27FC236}">
                <a16:creationId xmlns:a16="http://schemas.microsoft.com/office/drawing/2014/main" id="{B3FA63AC-E144-49AA-B5EC-A8529B78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01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73" name="Google Shape;120;p8"/>
          <p:cNvCxnSpPr/>
          <p:nvPr/>
        </p:nvCxnSpPr>
        <p:spPr>
          <a:xfrm xmlns:a="http://schemas.openxmlformats.org/drawingml/2006/main">
            <a:off x="36576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1" name="Google Shape;121;p8">
            <a:extLst xmlns:a="http://schemas.openxmlformats.org/drawingml/2006/main">
              <a:ext uri="{FF2B5EF4-FFF2-40B4-BE49-F238E27FC236}">
                <a16:creationId xmlns:a16="http://schemas.microsoft.com/office/drawing/2014/main" id="{705C1182-FFE8-4E98-90C6-08B33B45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OUTCOME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2" name="Google Shape;122;p8">
            <a:extLst xmlns:a="http://schemas.openxmlformats.org/drawingml/2006/main">
              <a:ext uri="{FF2B5EF4-FFF2-40B4-BE49-F238E27FC236}">
                <a16:creationId xmlns:a16="http://schemas.microsoft.com/office/drawing/2014/main" id="{67B45578-D485-453B-B6AD-B95B56F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Did it solve the agreed problem?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3" name="Google Shape;123;p8">
            <a:extLst xmlns:a="http://schemas.openxmlformats.org/drawingml/2006/main">
              <a:ext uri="{FF2B5EF4-FFF2-40B4-BE49-F238E27FC236}">
                <a16:creationId xmlns:a16="http://schemas.microsoft.com/office/drawing/2014/main" id="{AB345765-781D-4F6C-AF25-7891B077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02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77" name="Google Shape;124;p8"/>
          <p:cNvCxnSpPr/>
          <p:nvPr/>
        </p:nvCxnSpPr>
        <p:spPr>
          <a:xfrm xmlns:a="http://schemas.openxmlformats.org/drawingml/2006/main">
            <a:off x="324612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8">
            <a:extLst xmlns:a="http://schemas.openxmlformats.org/drawingml/2006/main">
              <a:ext uri="{FF2B5EF4-FFF2-40B4-BE49-F238E27FC236}">
                <a16:creationId xmlns:a16="http://schemas.microsoft.com/office/drawing/2014/main" id="{7E9CD5D2-6DB9-4B9A-AB1C-8D1B952F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BOUNDARIES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6" name="Google Shape;126;p8">
            <a:extLst xmlns:a="http://schemas.openxmlformats.org/drawingml/2006/main">
              <a:ext uri="{FF2B5EF4-FFF2-40B4-BE49-F238E27FC236}">
                <a16:creationId xmlns:a16="http://schemas.microsoft.com/office/drawing/2014/main" id="{810DC13D-77A7-4534-8A68-FEC905A1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Did any contract or invariant break?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7" name="Google Shape;127;p8">
            <a:extLst xmlns:a="http://schemas.openxmlformats.org/drawingml/2006/main">
              <a:ext uri="{FF2B5EF4-FFF2-40B4-BE49-F238E27FC236}">
                <a16:creationId xmlns:a16="http://schemas.microsoft.com/office/drawing/2014/main" id="{AFECC842-8A16-4625-86DF-BF85C4BA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03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81" name="Google Shape;128;p8"/>
          <p:cNvCxnSpPr/>
          <p:nvPr/>
        </p:nvCxnSpPr>
        <p:spPr>
          <a:xfrm xmlns:a="http://schemas.openxmlformats.org/drawingml/2006/main">
            <a:off x="612648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9" name="Google Shape;129;p8">
            <a:extLst xmlns:a="http://schemas.openxmlformats.org/drawingml/2006/main">
              <a:ext uri="{FF2B5EF4-FFF2-40B4-BE49-F238E27FC236}">
                <a16:creationId xmlns:a16="http://schemas.microsoft.com/office/drawing/2014/main" id="{368B3975-C646-41EF-9FCA-40C255D9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REALITY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0" name="Google Shape;130;p8">
            <a:extLst xmlns:a="http://schemas.openxmlformats.org/drawingml/2006/main">
              <a:ext uri="{FF2B5EF4-FFF2-40B4-BE49-F238E27FC236}">
                <a16:creationId xmlns:a16="http://schemas.microsoft.com/office/drawing/2014/main" id="{23F5E162-A67A-40BB-A51A-1E53C212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Do tests, runtime and user behaviour agree?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Google Shape;131;p8">
            <a:extLst xmlns:a="http://schemas.openxmlformats.org/drawingml/2006/main">
              <a:ext uri="{FF2B5EF4-FFF2-40B4-BE49-F238E27FC236}">
                <a16:creationId xmlns:a16="http://schemas.microsoft.com/office/drawing/2014/main" id="{33C5BB7C-87D4-4411-8F39-B938D850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34840"/>
            <a:ext cx="84124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300"/>
              <a:buFont typeface="Consolas"/>
              <a:buNone/>
            </a:pPr>
            <a:r>
              <a:rPr sz="1300" b="0" i="1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“Grade what the agent produced, not the path it took.” — Anthropic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2" name="Google Shape;132;p8">
            <a:extLst xmlns:a="http://schemas.openxmlformats.org/drawingml/2006/main">
              <a:ext uri="{FF2B5EF4-FFF2-40B4-BE49-F238E27FC236}">
                <a16:creationId xmlns:a16="http://schemas.microsoft.com/office/drawing/2014/main" id="{83E5E42B-D6F4-470F-A447-17970133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3" name="Google Shape;133;p8">
            <a:extLst xmlns:a="http://schemas.openxmlformats.org/drawingml/2006/main">
              <a:ext uri="{FF2B5EF4-FFF2-40B4-BE49-F238E27FC236}">
                <a16:creationId xmlns:a16="http://schemas.microsoft.com/office/drawing/2014/main" id="{024429E6-0795-4212-BA01-953B5F09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11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4893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11  /  CONTEXT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Love the context more than the code.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CONTEXT SPINE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Product + language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Architecture + seams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Invariants + evidence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Direction + deferrals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GARDEN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12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8161f395b4b77"/>
          <a:stretch xmlns:a="http://schemas.openxmlformats.org/drawingml/2006/main"/>
        </p:blipFill>
        <p:spPr>
          <a:xfrm xmlns:a="http://schemas.openxmlformats.org/drawingml/2006/main">
            <a:off x="6217920" y="2571367"/>
            <a:ext cx="2560320" cy="14409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5920FDF9-8F4E-486B-A0E6-76A1633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12  /  TWO MODES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9EE91708-0FC8-4C29-8F76-3732BD2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800"/>
              <a:buFont typeface="Georgia"/>
              <a:buNone/>
            </a:pPr>
            <a:r>
              <a:rPr sz="4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BUILD UP. STRENGTHEN ACROSS.</a:t>
            </a:r>
            <a:endParaRPr sz="4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4EC88FD9-0113-4070-8ABB-F098A917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FEATURE SLICES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9CD1E61B-C107-4621-99EB-013588D5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Outcome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D9E92D5-00DF-45A6-8BB7-81F7D41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7977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Flow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B5A9780-32F2-4275-AFB7-D8426509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090672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Behaviour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522E238B-04B4-4157-AC3D-4CBDBFE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01568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Feedback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D3A4F75A-C35D-43AC-9B31-3FB080D7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1246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Move upward through the stack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18" name="Google Shape;75;p6"/>
          <p:cNvCxnSpPr/>
          <p:nvPr/>
        </p:nvCxnSpPr>
        <p:spPr>
          <a:xfrm xmlns:a="http://schemas.openxmlformats.org/drawingml/2006/main">
            <a:off x="4572000" y="2103120"/>
            <a:ext cx="0" cy="22860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5E3D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E5D1CABD-CC73-4E51-8958-10D8D8E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SYSTEM FOUNDATIONS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6C68A983-D4EC-4E39-8E33-A3280F60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46888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200"/>
              <a:buFont typeface="Consolas"/>
              <a:buNone/>
            </a:pPr>
            <a:r>
              <a:rPr sz="3200" b="1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Privacy • contracts • tests</a:t>
            </a:r>
            <a:endParaRPr sz="3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2DC6FE49-38EA-4608-995B-F736FE13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931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Boundaries, observability, standards and context reach across every feature slice.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1149CA17-FB52-4509-B184-A6AFB6F6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3F8F7DC9-5AED-4276-A68F-BB2AD215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ONE 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B4E6919E-CAA3-444F-9EE1-B760792C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A6B92F23-680A-496D-8783-BB58751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13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642924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13  /  THE ROLE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You are gaining more of engineering.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AGENTIC 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Shapes intent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Designs boundaries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Orchestrates capabilities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Evaluates evidence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14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30c094ef2411a"/>
          <a:stretch xmlns:a="http://schemas.openxmlformats.org/drawingml/2006/main"/>
        </p:blipFill>
        <p:spPr>
          <a:xfrm xmlns:a="http://schemas.openxmlformats.org/drawingml/2006/main">
            <a:off x="6217920" y="2571367"/>
            <a:ext cx="2560320" cy="14409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11">
            <a:extLst xmlns:a="http://schemas.openxmlformats.org/drawingml/2006/main">
              <a:ext uri="{FF2B5EF4-FFF2-40B4-BE49-F238E27FC236}">
                <a16:creationId xmlns:a16="http://schemas.microsoft.com/office/drawing/2014/main" id="{AA2EB014-671F-4926-B3CC-F6110043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14  /  OVER TO YOU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7" name="Google Shape;177;p11">
            <a:extLst xmlns:a="http://schemas.openxmlformats.org/drawingml/2006/main">
              <a:ext uri="{FF2B5EF4-FFF2-40B4-BE49-F238E27FC236}">
                <a16:creationId xmlns:a16="http://schemas.microsoft.com/office/drawing/2014/main" id="{36BC7421-D9BF-4537-9CF0-981EF5E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0584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What will you build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8" name="Google Shape;178;p11">
            <a:extLst xmlns:a="http://schemas.openxmlformats.org/drawingml/2006/main">
              <a:ext uri="{FF2B5EF4-FFF2-40B4-BE49-F238E27FC236}">
                <a16:creationId xmlns:a16="http://schemas.microsoft.com/office/drawing/2014/main" id="{84E34CCC-EB35-4371-B5B8-575D8DD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82880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when code is no longer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9" name="Google Shape;179;p11">
            <a:extLst xmlns:a="http://schemas.openxmlformats.org/drawingml/2006/main">
              <a:ext uri="{FF2B5EF4-FFF2-40B4-BE49-F238E27FC236}">
                <a16:creationId xmlns:a16="http://schemas.microsoft.com/office/drawing/2014/main" id="{CF360AFB-08A7-463A-8457-A3574938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51460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the bottleneck?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205" name="Google Shape;180;p11"/>
          <p:cNvCxnSpPr/>
          <p:nvPr/>
        </p:nvCxnSpPr>
        <p:spPr>
          <a:xfrm xmlns:a="http://schemas.openxmlformats.org/drawingml/2006/main">
            <a:off x="365760" y="3703320"/>
            <a:ext cx="3657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2A2A3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1" name="Google Shape;181;p11">
            <a:extLst xmlns:a="http://schemas.openxmlformats.org/drawingml/2006/main">
              <a:ext uri="{FF2B5EF4-FFF2-40B4-BE49-F238E27FC236}">
                <a16:creationId xmlns:a16="http://schemas.microsoft.com/office/drawing/2014/main" id="{30E5695F-ED33-43DC-A41C-39029E20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4048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500"/>
              <a:buFont typeface="Calibri"/>
              <a:buNone/>
            </a:pPr>
            <a:r>
              <a:rPr sz="1500" b="0" i="0" u="none" cap="none">
                <a:solidFill>
                  <a:srgbClr val="FAFAF7"/>
                </a:solidFill>
                <a:latin typeface="Calibri"/>
                <a:ea typeface="Calibri"/>
                <a:cs typeface="Calibri"/>
              </a:rPr>
              <a:t>The valuable unit is the loop.</a:t>
            </a:r>
            <a:endParaRPr sz="1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2" name="Google Shape;182;p11">
            <a:extLst xmlns:a="http://schemas.openxmlformats.org/drawingml/2006/main">
              <a:ext uri="{FF2B5EF4-FFF2-40B4-BE49-F238E27FC236}">
                <a16:creationId xmlns:a16="http://schemas.microsoft.com/office/drawing/2014/main" id="{048110DF-5E9F-4D1A-A384-37FF6A1D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16052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500"/>
              <a:buFont typeface="Calibri"/>
              <a:buNone/>
            </a:pPr>
            <a:r>
              <a:rPr sz="15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Curiosity. Intentionality. Judgment. Evidence.</a:t>
            </a:r>
            <a:endParaRPr sz="1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3" name="Google Shape;183;p11">
            <a:extLst xmlns:a="http://schemas.openxmlformats.org/drawingml/2006/main">
              <a:ext uri="{FF2B5EF4-FFF2-40B4-BE49-F238E27FC236}">
                <a16:creationId xmlns:a16="http://schemas.microsoft.com/office/drawing/2014/main" id="{8FCBAC2D-6C84-4B25-BAF4-DFB66C94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8056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300"/>
              <a:buFont typeface="Consolas"/>
              <a:buNone/>
            </a:pPr>
            <a:r>
              <a:rPr sz="1300" b="0" i="1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Questions?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4" name="Google Shape;184;p11">
            <a:extLst xmlns:a="http://schemas.openxmlformats.org/drawingml/2006/main">
              <a:ext uri="{FF2B5EF4-FFF2-40B4-BE49-F238E27FC236}">
                <a16:creationId xmlns:a16="http://schemas.microsoft.com/office/drawing/2014/main" id="{6B0C27BA-3562-4381-845B-5032E6C7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5" name="Google Shape;185;p11">
            <a:extLst xmlns:a="http://schemas.openxmlformats.org/drawingml/2006/main">
              <a:ext uri="{FF2B5EF4-FFF2-40B4-BE49-F238E27FC236}">
                <a16:creationId xmlns:a16="http://schemas.microsoft.com/office/drawing/2014/main" id="{29DB213F-86C4-4A29-8E10-D6C1282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15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0445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2026-09-01T09:41:40.2220000Z</dcterms:created>
  <dcterms:modified xsi:type="dcterms:W3CDTF">2026-09-01T09:41:40.2220000Z</dcterms:modified>
</coreProperties>
</file>