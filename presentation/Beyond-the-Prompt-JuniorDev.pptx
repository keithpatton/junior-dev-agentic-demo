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a473b19fae04436" /><Relationship Type="http://schemas.openxmlformats.org/officeDocument/2006/relationships/extended-properties" Target="/docProps/app.xml" Id="R1134e35bffb64b2c" /><Relationship Type="http://schemas.openxmlformats.org/officeDocument/2006/relationships/officeDocument" Target="/ppt/presentation.xml" Id="Rae698531c35c40b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bb080c338914376"/>
  </p:sldMasterIdLst>
  <p:notesMasterIdLst>
    <p:notesMasterId xmlns:r="http://schemas.openxmlformats.org/officeDocument/2006/relationships" r:id="R4f822ba99e7d454a"/>
  </p:notesMasterIdLst>
  <p:sldIdLst>
    <p:sldId xmlns:r="http://schemas.openxmlformats.org/officeDocument/2006/relationships" id="256" r:id="Rb3f9c44d132a4316"/>
    <p:sldId xmlns:r="http://schemas.openxmlformats.org/officeDocument/2006/relationships" id="257" r:id="Readeee3ff38942c8"/>
    <p:sldId xmlns:r="http://schemas.openxmlformats.org/officeDocument/2006/relationships" id="258" r:id="R48b8ed0c1e2b4201"/>
    <p:sldId xmlns:r="http://schemas.openxmlformats.org/officeDocument/2006/relationships" id="259" r:id="R9ffd10c19abc4a0c"/>
    <p:sldId xmlns:r="http://schemas.openxmlformats.org/officeDocument/2006/relationships" id="260" r:id="R58a408cafaee45f1"/>
    <p:sldId xmlns:r="http://schemas.openxmlformats.org/officeDocument/2006/relationships" id="261" r:id="Rc662d51709ea4644"/>
    <p:sldId xmlns:r="http://schemas.openxmlformats.org/officeDocument/2006/relationships" id="262" r:id="R570f1bba2e244975"/>
    <p:sldId xmlns:r="http://schemas.openxmlformats.org/officeDocument/2006/relationships" id="263" r:id="R3779c7f28ab0428c"/>
    <p:sldId xmlns:r="http://schemas.openxmlformats.org/officeDocument/2006/relationships" id="264" r:id="Rc830e4e717fd4319"/>
    <p:sldId xmlns:r="http://schemas.openxmlformats.org/officeDocument/2006/relationships" id="265" r:id="R0e9572cd447f488b"/>
    <p:sldId xmlns:r="http://schemas.openxmlformats.org/officeDocument/2006/relationships" id="266" r:id="R6ed80852364b49ec"/>
    <p:sldId xmlns:r="http://schemas.openxmlformats.org/officeDocument/2006/relationships" id="267" r:id="Rc9242c975a274be5"/>
    <p:sldId xmlns:r="http://schemas.openxmlformats.org/officeDocument/2006/relationships" id="268" r:id="R0548ed4ea6104787"/>
    <p:sldId xmlns:r="http://schemas.openxmlformats.org/officeDocument/2006/relationships" id="269" r:id="R79d31ed469a64a83"/>
    <p:sldId xmlns:r="http://schemas.openxmlformats.org/officeDocument/2006/relationships" id="270" r:id="R78b0aa2d1e364461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1afbb4391464a6a" /><Relationship Type="http://schemas.openxmlformats.org/officeDocument/2006/relationships/slideMaster" Target="/ppt/slideMasters/slideMaster1.xml" Id="Rbbb080c338914376" /><Relationship Type="http://schemas.openxmlformats.org/officeDocument/2006/relationships/notesMaster" Target="/ppt/notesMasters/notesMaster1.xml" Id="R4f822ba99e7d454a" /><Relationship Type="http://schemas.openxmlformats.org/officeDocument/2006/relationships/presProps" Target="/ppt/presProps.xml" Id="R4bf2b0cad8644bcf" /><Relationship Type="http://schemas.openxmlformats.org/officeDocument/2006/relationships/tableStyles" Target="/ppt/tableStyles.xml" Id="R84a4e4c8f976482b" /><Relationship Type="http://schemas.openxmlformats.org/officeDocument/2006/relationships/slide" Target="/ppt/slides/slide1.xml" Id="Rb3f9c44d132a4316" /><Relationship Type="http://schemas.openxmlformats.org/officeDocument/2006/relationships/slide" Target="/ppt/slides/slide2.xml" Id="Readeee3ff38942c8" /><Relationship Type="http://schemas.openxmlformats.org/officeDocument/2006/relationships/slide" Target="/ppt/slides/slide3.xml" Id="R48b8ed0c1e2b4201" /><Relationship Type="http://schemas.openxmlformats.org/officeDocument/2006/relationships/slide" Target="/ppt/slides/slide4.xml" Id="R9ffd10c19abc4a0c" /><Relationship Type="http://schemas.openxmlformats.org/officeDocument/2006/relationships/slide" Target="/ppt/slides/slide5.xml" Id="R58a408cafaee45f1" /><Relationship Type="http://schemas.openxmlformats.org/officeDocument/2006/relationships/slide" Target="/ppt/slides/slide6.xml" Id="Rc662d51709ea4644" /><Relationship Type="http://schemas.openxmlformats.org/officeDocument/2006/relationships/slide" Target="/ppt/slides/slide7.xml" Id="R570f1bba2e244975" /><Relationship Type="http://schemas.openxmlformats.org/officeDocument/2006/relationships/slide" Target="/ppt/slides/slide8.xml" Id="R3779c7f28ab0428c" /><Relationship Type="http://schemas.openxmlformats.org/officeDocument/2006/relationships/slide" Target="/ppt/slides/slide9.xml" Id="Rc830e4e717fd4319" /><Relationship Type="http://schemas.openxmlformats.org/officeDocument/2006/relationships/slide" Target="/ppt/slides/slide10.xml" Id="R0e9572cd447f488b" /><Relationship Type="http://schemas.openxmlformats.org/officeDocument/2006/relationships/slide" Target="/ppt/slides/slide11.xml" Id="R6ed80852364b49ec" /><Relationship Type="http://schemas.openxmlformats.org/officeDocument/2006/relationships/slide" Target="/ppt/slides/slide12.xml" Id="Rc9242c975a274be5" /><Relationship Type="http://schemas.openxmlformats.org/officeDocument/2006/relationships/slide" Target="/ppt/slides/slide13.xml" Id="R0548ed4ea6104787" /><Relationship Type="http://schemas.openxmlformats.org/officeDocument/2006/relationships/slide" Target="/ppt/slides/slide14.xml" Id="R79d31ed469a64a83" /><Relationship Type="http://schemas.openxmlformats.org/officeDocument/2006/relationships/slide" Target="/ppt/slides/slide15.xml" Id="R78b0aa2d1e36446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ffaf02068b047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e4033cd88a4eb8" /><Relationship Type="http://schemas.openxmlformats.org/officeDocument/2006/relationships/notesMaster" Target="/ppt/notesMasters/notesMaster1.xml" Id="Rfbfb1905650649b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a8cc0dcd76b4fcd" /><Relationship Type="http://schemas.openxmlformats.org/officeDocument/2006/relationships/notesMaster" Target="/ppt/notesMasters/notesMaster1.xml" Id="R0d0ec60f3dd6439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5cd5c820e30428c" /><Relationship Type="http://schemas.openxmlformats.org/officeDocument/2006/relationships/notesMaster" Target="/ppt/notesMasters/notesMaster1.xml" Id="R455399b5559046d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8d0245efdea4e7f" /><Relationship Type="http://schemas.openxmlformats.org/officeDocument/2006/relationships/notesMaster" Target="/ppt/notesMasters/notesMaster1.xml" Id="Rbc6ab8f223cd41f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c370dc7dbfb448a" /><Relationship Type="http://schemas.openxmlformats.org/officeDocument/2006/relationships/notesMaster" Target="/ppt/notesMasters/notesMaster1.xml" Id="R5c66cfa911a246b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c17ce6535cd4259" /><Relationship Type="http://schemas.openxmlformats.org/officeDocument/2006/relationships/notesMaster" Target="/ppt/notesMasters/notesMaster1.xml" Id="Ree8761be0b704f5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0c3e3d1aa264fbc" /><Relationship Type="http://schemas.openxmlformats.org/officeDocument/2006/relationships/notesMaster" Target="/ppt/notesMasters/notesMaster1.xml" Id="R16c068913a72450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5a71f3595fe45ed" /><Relationship Type="http://schemas.openxmlformats.org/officeDocument/2006/relationships/notesMaster" Target="/ppt/notesMasters/notesMaster1.xml" Id="R5bc19e9fb5864a6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5a135bdbaf248f1" /><Relationship Type="http://schemas.openxmlformats.org/officeDocument/2006/relationships/notesMaster" Target="/ppt/notesMasters/notesMaster1.xml" Id="R68f7ca81b8e942f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f8171aae9524bed" /><Relationship Type="http://schemas.openxmlformats.org/officeDocument/2006/relationships/notesMaster" Target="/ppt/notesMasters/notesMaster1.xml" Id="Re0dc5a6c5d3242c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480039995c94525" /><Relationship Type="http://schemas.openxmlformats.org/officeDocument/2006/relationships/notesMaster" Target="/ppt/notesMasters/notesMaster1.xml" Id="R8ae4a83dbabc4ff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41abf2c137a43cb" /><Relationship Type="http://schemas.openxmlformats.org/officeDocument/2006/relationships/notesMaster" Target="/ppt/notesMasters/notesMaster1.xml" Id="R92ccd0a490f745d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76b08ceff17413a" /><Relationship Type="http://schemas.openxmlformats.org/officeDocument/2006/relationships/notesMaster" Target="/ppt/notesMasters/notesMaster1.xml" Id="R998524cb9d104da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913b0656fa840f2" /><Relationship Type="http://schemas.openxmlformats.org/officeDocument/2006/relationships/notesMaster" Target="/ppt/notesMasters/notesMaster1.xml" Id="Rabb8aa78facb453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9151a491473441c" /><Relationship Type="http://schemas.openxmlformats.org/officeDocument/2006/relationships/notesMaster" Target="/ppt/notesMasters/notesMaster1.xml" Id="R9f1dce27471c40e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0:00–0:45 — Promise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Promise: I will show a small control system that lets agents do more work while your judgement remains visible.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Say: You already know an AI can produce code. The interesting question is how we remain responsible for what gets built.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0:45–2:30 — Personal history and empathy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Tell the Wrox-book story: no Stack Overflow, a CRT, huge red books and coffee as architecture.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Joke: some of you were not born; some of those books were nearly as heavy as you.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Connect young and old: the fear is different, but both generations face an unfamiliar shift in what competence looks like.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OpenAI-generated illustration commissioned for this talk: presentation/assets/late-90s-developer.png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2:30–3:45 — Core thesis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Pause after “It is the loop.”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 prompt is a moment. A loop keeps intent, challenge, decisions, evidence and memory visible.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Use stronger gates only when ambiguity, consequence or blast radius earns them.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3:45–5:15 — A prompt begins, discussion shapes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human does not need a complete specification. They do need to stay present while the idea acquires meaning.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SHOW → open presentation/demo/01-idea-discussion.md. Read only the starting request, two questions and the reframed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RETURN → “The idea changed before the code did.”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5:15–6:45 — Three human control moments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Shape the task. Authorise consequential decisions. Evaluate the result.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Between those checkpoints, agents may explore, draft, implement, test and recover.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human is not absent; human attention is moved to higher-leverage moments.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6:45–8:15 — Checkpoints, not token watching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 not confuse ownership with watching every edit. Spend scarce human attention where consequences change: intent, risk, uncertainty, irreversible choices, approval and proof.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Transition: we need a portable way to remember those gates.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8:15–9:45 — The small Task Automation Framework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TAF is plain Markdown: intake, plan and challenge, approval and proof. It is deliberately model-agnostic and proportionate.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SHOW → open plans/README.md at “Planning loop,” then presentation/demo/02-plan-v1.md at “Assumptions requiring challenge.”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RETURN → “A plan is a proposal, not permission.”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https://openai.com/index/harness-engineering/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https://www.anthropic.com/engineering/building-effective-agents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9:45–12:15 — Socratic adversarial loop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Point at the flow: propose → challenge → revise. The loop recurs against criteria and evidence, then reaches a human checkpoint.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This is not agents arguing until truth appears. Long debates can drift. Keep roles bounded, findings criterion-based, and iteration capped.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SHOW → open presentation/demo/03-socratic-plan-review.md. Show one complete finding: question, consequence and required revision.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RETURN → “Challenge prepares the decision; it does not own it.” Move to the human-gate slide.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https://proceedings.mlr.press/v235/du24e.html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https://arxiv.org/abs/2303.17651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https://aclanthology.org/2026.findings-eacl.268/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OpenAI-generated illustration commissioned for this talk: presentation/assets/socratic-adversary.png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12:15–13:15 — Human approval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agent can recommend an outcome, architecture, boundary or proof strategy. It cannot accept accountability for the consequence.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Approval does not mean reviewing every line. It means owning the decision frame and any explicit deferrals.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SHOW → open presentation/demo/04-approved-plan.md at “Human decision” and the conditions.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RETURN → “Now the agent has permission to act—inside an explicit decision frame.”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13:15–15:15 — Orchestration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Agents are strong at exploration, drafting, implementation, comparison and recovery. Humans own intent, risk, approval and outcome.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SHOW → open presentation/demo/05-build-up.md, then app.js at chooseNext(). Show the running app for no more than 20 seconds: “yes, agents can build software—whoop-de-doo.”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RETURN → “The website is not the punchline. The inspectable chain of decisions is.”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15:15–17:30 — Evaluate claims, not performance theatre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Use outcome, boundaries and reality as three review lenses.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SHOW → use one editor split: data-boundaries.js beside privacy.test.js. Optionally run npm test.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Tell the real recovery: one rehearsal had green unit tests and a broken browser module load. Runtime evidence caught what the focused test did not.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RETURN → “A passing feature is not enough if the system boundary is wrong.”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https://www.anthropic.com/engineering/demystifying-evals-for-ai-agents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Historical local rehearsal record: https://github.com/keithpatton/junior-dev-agentic-demo/blob/f2f8699/docs/validation/VALIDATION-REPORT.md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17:30–20:00 — Bonsai and metacognition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In use, the task trail records how meaning changed. This repository keeps presentation-ready samples of those moments; the spine describes what the system means now.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Love this layer: product, language, architecture, seams, invariants, evidence, direction and deferrals. Prune it. Do not dump chat history into it.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SHOW → open presentation/demo/07-proof-and-memory.md, then docs/spine/INVARIANTS.md. Optionally run npm run test:spine. Explain that the guard proves structure, not wisdom.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RETURN → “A proved decision helps once. A remembered decision shapes the next change.”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https://openai.com/index/harness-engineering/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OpenAI-generated illustration commissioned for this talk: presentation/assets/context-spine-bonsai.png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20:00–22:15 — Build up and strengthen across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Feature slices build upward through outcome, flow, behaviour and feedback. Foundations strengthen across slices: privacy, contracts, tests, observability, standards and context.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Historically these concerns often crossed roles and teams. An agentic builder can context-switch between them rapidly, while still knowing when specialist judgement is required.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Do not leave the slide again. Point back to the feature and privacy examples already shown.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22:15–24:00 — The agentic builder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This is not instant seniority and not the end of technical foundations. It is earlier access to product intent, architecture, operations, risk and evidence.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The role becomes part engineer, architect, product thinker, editor and gardener of a living system. Curiosity, intentionality and judgement matter more because reach has increased.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https://openai.com/index/harness-engineering/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- OpenAI-generated illustration commissioned for this talk: presentation/assets/agentic-builder-gardener.png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24:00–25:30 — Resolve and questions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Return to the opening promise: the point was never that AI can type code. It was that a visible loop lets agents build while humans keep consequential judgement.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Question: what will you build when code is no longer the bottleneck?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At 25:30, stop. Leave this slide visible for questions.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68c0f746984ae6" /></Relationships>
</file>

<file path=ppt/slideLayouts/slideLayout1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6143bc1a40d4b34" /><Relationship Type="http://schemas.openxmlformats.org/officeDocument/2006/relationships/slideLayout" Target="/ppt/slideLayouts/slideLayout1.xml" Id="R6b937175150148f3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b937175150148f3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eb30499fca4db1" /><Relationship Type="http://schemas.openxmlformats.org/officeDocument/2006/relationships/notesSlide" Target="/ppt/notesSlides/notesSlide1.xml" Id="R23c6873ba5de4d6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e52513250b497c" /><Relationship Type="http://schemas.openxmlformats.org/officeDocument/2006/relationships/image" Target="/ppt/media/image.png" Id="Rfb18a53ca9924bc1" /><Relationship Type="http://schemas.openxmlformats.org/officeDocument/2006/relationships/notesSlide" Target="/ppt/notesSlides/notesSlide2.xml" Id="R57f3c31034234f8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83908770dc4224" /><Relationship Type="http://schemas.openxmlformats.org/officeDocument/2006/relationships/notesSlide" Target="/ppt/notesSlides/notesSlide3.xml" Id="Ra2a0f0f2e7e5436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5bec9377ad462b" /><Relationship Type="http://schemas.openxmlformats.org/officeDocument/2006/relationships/notesSlide" Target="/ppt/notesSlides/notesSlide4.xml" Id="R9503067bd7db4ec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65790edba84243" /><Relationship Type="http://schemas.openxmlformats.org/officeDocument/2006/relationships/notesSlide" Target="/ppt/notesSlides/notesSlide5.xml" Id="Rea891550b1b4454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a5d02f506c41a7" /><Relationship Type="http://schemas.openxmlformats.org/officeDocument/2006/relationships/notesSlide" Target="/ppt/notesSlides/notesSlide6.xml" Id="R206f7f493372407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0c6b35bc23407f" /><Relationship Type="http://schemas.openxmlformats.org/officeDocument/2006/relationships/notesSlide" Target="/ppt/notesSlides/notesSlide7.xml" Id="R8372fa22e1bf4d4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5d8b3a7fe24775" /><Relationship Type="http://schemas.openxmlformats.org/officeDocument/2006/relationships/image" Target="/ppt/media/image2.png" Id="R90bfdef78b8d4336" /><Relationship Type="http://schemas.openxmlformats.org/officeDocument/2006/relationships/notesSlide" Target="/ppt/notesSlides/notesSlide8.xml" Id="R6aea6d3b0a1e415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301140774845e6" /><Relationship Type="http://schemas.openxmlformats.org/officeDocument/2006/relationships/notesSlide" Target="/ppt/notesSlides/notesSlide9.xml" Id="R9ec6f5ca808d44f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ce8374aca24f37" /><Relationship Type="http://schemas.openxmlformats.org/officeDocument/2006/relationships/notesSlide" Target="/ppt/notesSlides/notesSlide10.xml" Id="R3a09b8e74b704ae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15e7fa356a4621" /><Relationship Type="http://schemas.openxmlformats.org/officeDocument/2006/relationships/notesSlide" Target="/ppt/notesSlides/notesSlide11.xml" Id="R8d99652f2c6d4ab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65f07a97464a43" /><Relationship Type="http://schemas.openxmlformats.org/officeDocument/2006/relationships/image" Target="/ppt/media/image3.png" Id="R594286231516451a" /><Relationship Type="http://schemas.openxmlformats.org/officeDocument/2006/relationships/notesSlide" Target="/ppt/notesSlides/notesSlide12.xml" Id="R528eea22616d477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1b90f12eda43f8" /><Relationship Type="http://schemas.openxmlformats.org/officeDocument/2006/relationships/notesSlide" Target="/ppt/notesSlides/notesSlide13.xml" Id="R0d6cf39ce04e41c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8f710f8c734e78" /><Relationship Type="http://schemas.openxmlformats.org/officeDocument/2006/relationships/image" Target="/ppt/media/image4.png" Id="R425d13ae5e98434d" /><Relationship Type="http://schemas.openxmlformats.org/officeDocument/2006/relationships/notesSlide" Target="/ppt/notesSlides/notesSlide14.xml" Id="R89c87bac937047a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05ce0232ef4a35" /><Relationship Type="http://schemas.openxmlformats.org/officeDocument/2006/relationships/notesSlide" Target="/ppt/notesSlides/notesSlide15.xml" Id="Rec6170cd169249c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F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 Shape;16;p3">
            <a:extLst xmlns:a="http://schemas.openxmlformats.org/drawingml/2006/main">
              <a:ext uri="{FF2B5EF4-FFF2-40B4-BE49-F238E27FC236}">
                <a16:creationId xmlns:a16="http://schemas.microsoft.com/office/drawing/2014/main" id="{A9CA3F1F-FD6A-4617-8477-BBEE1D1F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JUNIORDEV AUCKLAND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cxnSp>
        <p:nvCxnSpPr>
          <p:cNvPr id="31" name="Google Shape;17;p3"/>
          <p:cNvCxnSpPr/>
          <p:nvPr/>
        </p:nvCxnSpPr>
        <p:spPr>
          <a:xfrm xmlns:a="http://schemas.openxmlformats.org/drawingml/2006/main">
            <a:off x="365760" y="713232"/>
            <a:ext cx="841248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2A2A3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" name="Google Shape;18;p3">
            <a:extLst xmlns:a="http://schemas.openxmlformats.org/drawingml/2006/main">
              <a:ext uri="{FF2B5EF4-FFF2-40B4-BE49-F238E27FC236}">
                <a16:creationId xmlns:a16="http://schemas.microsoft.com/office/drawing/2014/main" id="{C1C67A93-3F78-4A01-942B-D95683BDA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97280"/>
            <a:ext cx="8412480" cy="1188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7200"/>
              <a:buFont typeface="Impact"/>
              <a:buNone/>
            </a:pPr>
            <a:r>
              <a:rPr sz="7200" b="1" i="0" u="none" cap="none">
                <a:solidFill>
                  <a:srgbClr val="FAFAF7"/>
                </a:solidFill>
                <a:latin typeface="Impact"/>
                <a:ea typeface="Impact"/>
                <a:cs typeface="Impact"/>
              </a:rPr>
              <a:t>BEYOND</a:t>
            </a:r>
            <a:endParaRPr sz="7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Google Shape;19;p3">
            <a:extLst xmlns:a="http://schemas.openxmlformats.org/drawingml/2006/main">
              <a:ext uri="{FF2B5EF4-FFF2-40B4-BE49-F238E27FC236}">
                <a16:creationId xmlns:a16="http://schemas.microsoft.com/office/drawing/2014/main" id="{3C2E1233-2111-40E6-85BB-FE3B6274E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011680"/>
            <a:ext cx="8412480" cy="1188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7200"/>
              <a:buFont typeface="Impact"/>
              <a:buNone/>
            </a:pPr>
            <a:r>
              <a:rPr sz="7200" b="1" i="0" u="none" cap="none">
                <a:solidFill>
                  <a:srgbClr val="FF5C39"/>
                </a:solidFill>
                <a:latin typeface="Impact"/>
                <a:ea typeface="Impact"/>
                <a:cs typeface="Impact"/>
              </a:rPr>
              <a:t>THE</a:t>
            </a:r>
            <a:endParaRPr sz="7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" name="Google Shape;20;p3">
            <a:extLst xmlns:a="http://schemas.openxmlformats.org/drawingml/2006/main">
              <a:ext uri="{FF2B5EF4-FFF2-40B4-BE49-F238E27FC236}">
                <a16:creationId xmlns:a16="http://schemas.microsoft.com/office/drawing/2014/main" id="{6AD023BB-3329-4BC2-B26A-3AD28C94F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926080"/>
            <a:ext cx="8412480" cy="1188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7200"/>
              <a:buFont typeface="Impact"/>
              <a:buNone/>
            </a:pPr>
            <a:r>
              <a:rPr sz="7200" b="1" i="0" u="none" cap="none">
                <a:solidFill>
                  <a:srgbClr val="FF5C39"/>
                </a:solidFill>
                <a:latin typeface="Impact"/>
                <a:ea typeface="Impact"/>
                <a:cs typeface="Impact"/>
              </a:rPr>
              <a:t>PROMPT.</a:t>
            </a:r>
            <a:endParaRPr sz="7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Google Shape;21;p3">
            <a:extLst xmlns:a="http://schemas.openxmlformats.org/drawingml/2006/main">
              <a:ext uri="{FF2B5EF4-FFF2-40B4-BE49-F238E27FC236}">
                <a16:creationId xmlns:a16="http://schemas.microsoft.com/office/drawing/2014/main" id="{01FB12C2-DE81-4984-821F-22E64C12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160520"/>
            <a:ext cx="82296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1600"/>
              <a:buFont typeface="Calibri"/>
              <a:buNone/>
            </a:pPr>
            <a:r>
              <a:rPr sz="1600" b="0" i="0" u="none" cap="none">
                <a:solidFill>
                  <a:srgbClr val="FAFAF7"/>
                </a:solidFill>
                <a:latin typeface="Calibri"/>
                <a:ea typeface="Calibri"/>
                <a:cs typeface="Calibri"/>
              </a:rPr>
              <a:t>Keith Patton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2" name="Google Shape;22;p3">
            <a:extLst xmlns:a="http://schemas.openxmlformats.org/drawingml/2006/main">
              <a:ext uri="{FF2B5EF4-FFF2-40B4-BE49-F238E27FC236}">
                <a16:creationId xmlns:a16="http://schemas.microsoft.com/office/drawing/2014/main" id="{7C641219-0DFA-431F-A589-E445CB26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462272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100"/>
              <a:buFont typeface="Calibri"/>
              <a:buNone/>
            </a:pPr>
            <a:r>
              <a:rPr sz="1100" b="0" i="0" u="none" cap="none">
                <a:solidFill>
                  <a:srgbClr val="6B6B73"/>
                </a:solidFill>
                <a:latin typeface="Calibri"/>
                <a:ea typeface="Calibri"/>
                <a:cs typeface="Calibri"/>
              </a:rPr>
              <a:t>Software engineering &amp; technology leader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3" name="Google Shape;23;p3">
            <a:extLst xmlns:a="http://schemas.openxmlformats.org/drawingml/2006/main">
              <a:ext uri="{FF2B5EF4-FFF2-40B4-BE49-F238E27FC236}">
                <a16:creationId xmlns:a16="http://schemas.microsoft.com/office/drawing/2014/main" id="{7CF451C5-7390-45E3-BE5A-3682783AF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800600"/>
            <a:ext cx="329184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AUCKLAND  /  SEPTEMBER 2026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758632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9" name="Google Shape;139;p9">
            <a:extLst xmlns:a="http://schemas.openxmlformats.org/drawingml/2006/main">
              <a:ext uri="{FF2B5EF4-FFF2-40B4-BE49-F238E27FC236}">
                <a16:creationId xmlns:a16="http://schemas.microsoft.com/office/drawing/2014/main" id="{4D4A2DC0-77A7-4248-92AC-DAAB6ADF7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01  /  BEFORE AGENTS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0" name="Google Shape;140;p9">
            <a:extLst xmlns:a="http://schemas.openxmlformats.org/drawingml/2006/main">
              <a:ext uri="{FF2B5EF4-FFF2-40B4-BE49-F238E27FC236}">
                <a16:creationId xmlns:a16="http://schemas.microsoft.com/office/drawing/2014/main" id="{06B0A1D6-9D2A-4A71-97C6-E8A48E80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777240"/>
            <a:ext cx="84124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3800"/>
              <a:buFont typeface="Georgia"/>
              <a:buNone/>
            </a:pPr>
            <a:r>
              <a:rPr sz="3800" b="0" i="1" u="none" cap="none">
                <a:solidFill>
                  <a:srgbClr val="1A1A1F"/>
                </a:solidFill>
                <a:latin typeface="Georgia"/>
                <a:ea typeface="Georgia"/>
                <a:cs typeface="Georgia"/>
              </a:rPr>
              <a:t>I used to write every line myself.</a:t>
            </a:r>
            <a:endParaRPr sz="3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1" name="Google Shape;141;p9">
            <a:extLst xmlns:a="http://schemas.openxmlformats.org/drawingml/2006/main">
              <a:ext uri="{FF2B5EF4-FFF2-40B4-BE49-F238E27FC236}">
                <a16:creationId xmlns:a16="http://schemas.microsoft.com/office/drawing/2014/main" id="{6E2EC17A-DC40-42B1-975E-06A891E9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01168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LATE 1990s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2" name="Google Shape;142;p9">
            <a:extLst xmlns:a="http://schemas.openxmlformats.org/drawingml/2006/main">
              <a:ext uri="{FF2B5EF4-FFF2-40B4-BE49-F238E27FC236}">
                <a16:creationId xmlns:a16="http://schemas.microsoft.com/office/drawing/2014/main" id="{C3EFD4B5-F5BD-4712-B7F2-8BABED40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46888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No Stack Overflow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3" name="Google Shape;143;p9">
            <a:extLst xmlns:a="http://schemas.openxmlformats.org/drawingml/2006/main">
              <a:ext uri="{FF2B5EF4-FFF2-40B4-BE49-F238E27FC236}">
                <a16:creationId xmlns:a16="http://schemas.microsoft.com/office/drawing/2014/main" id="{D41E90A1-C64B-4616-BBC0-5037DE2E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852928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Enormous red books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4" name="Google Shape;144;p9">
            <a:extLst xmlns:a="http://schemas.openxmlformats.org/drawingml/2006/main">
              <a:ext uri="{FF2B5EF4-FFF2-40B4-BE49-F238E27FC236}">
                <a16:creationId xmlns:a16="http://schemas.microsoft.com/office/drawing/2014/main" id="{0543F061-5F6F-4D55-98E4-57DE12657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236976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One exhausted developer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5" name="Google Shape;145;p9">
            <a:extLst xmlns:a="http://schemas.openxmlformats.org/drawingml/2006/main">
              <a:ext uri="{FF2B5EF4-FFF2-40B4-BE49-F238E27FC236}">
                <a16:creationId xmlns:a16="http://schemas.microsoft.com/office/drawing/2014/main" id="{B7ECA970-5DCC-4E83-92E0-E10CCD9B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21024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Coffee as architecture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0" name="Google Shape;150;p9">
            <a:extLst xmlns:a="http://schemas.openxmlformats.org/drawingml/2006/main">
              <a:ext uri="{FF2B5EF4-FFF2-40B4-BE49-F238E27FC236}">
                <a16:creationId xmlns:a16="http://schemas.microsoft.com/office/drawing/2014/main" id="{2B3716DB-4FF3-41C5-91E7-29E5E296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89120"/>
            <a:ext cx="128016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39"/>
          </a:solidFill>
          <a:ln xmlns:a="http://schemas.openxmlformats.org/drawingml/2006/main" w="12700" cmpd="sng">
            <a:solidFill>
              <a:srgbClr val="FF5C39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">
            <a:extLst xmlns:a="http://schemas.openxmlformats.org/drawingml/2006/main">
              <a:ext uri="{FF2B5EF4-FFF2-40B4-BE49-F238E27FC236}">
                <a16:creationId xmlns:a16="http://schemas.microsoft.com/office/drawing/2014/main" id="{2D400D66-BEB5-4860-840B-6C49D1EA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89120"/>
            <a:ext cx="12801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1998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2" name="Google Shape;152;p9">
            <a:extLst xmlns:a="http://schemas.openxmlformats.org/drawingml/2006/main">
              <a:ext uri="{FF2B5EF4-FFF2-40B4-BE49-F238E27FC236}">
                <a16:creationId xmlns:a16="http://schemas.microsoft.com/office/drawing/2014/main" id="{910F8A5B-1786-49E1-8D50-8DE07318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3" name="Google Shape;153;p9">
            <a:extLst xmlns:a="http://schemas.openxmlformats.org/drawingml/2006/main">
              <a:ext uri="{FF2B5EF4-FFF2-40B4-BE49-F238E27FC236}">
                <a16:creationId xmlns:a16="http://schemas.microsoft.com/office/drawing/2014/main" id="{00DBAE41-9E24-468E-B8BB-90955149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02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18a53ca9924bc1"/>
          <a:srcRect xmlns:a="http://schemas.openxmlformats.org/drawingml/2006/main" l="0" t="7143" r="0" b="71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0" y="2194560"/>
            <a:ext cx="2560320" cy="219456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91859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F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Google Shape;54;p5">
            <a:extLst xmlns:a="http://schemas.openxmlformats.org/drawingml/2006/main">
              <a:ext uri="{FF2B5EF4-FFF2-40B4-BE49-F238E27FC236}">
                <a16:creationId xmlns:a16="http://schemas.microsoft.com/office/drawing/2014/main" id="{4DE29C2F-2790-4566-9284-819FC5999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02  /  THE TURN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5" name="Google Shape;55;p5">
            <a:extLst xmlns:a="http://schemas.openxmlformats.org/drawingml/2006/main">
              <a:ext uri="{FF2B5EF4-FFF2-40B4-BE49-F238E27FC236}">
                <a16:creationId xmlns:a16="http://schemas.microsoft.com/office/drawing/2014/main" id="{D7B4F82F-AFA5-4E49-AAA7-9BBB4A5E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822960"/>
            <a:ext cx="1371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4000"/>
              <a:buFont typeface="Georgia"/>
              <a:buNone/>
            </a:pPr>
            <a:r>
              <a:rPr sz="14000" b="0" i="0" u="none" cap="none">
                <a:solidFill>
                  <a:srgbClr val="FF5C39"/>
                </a:solidFill>
                <a:latin typeface="Georgia"/>
                <a:ea typeface="Georgia"/>
                <a:cs typeface="Georgia"/>
              </a:rPr>
              <a:t>“</a:t>
            </a:r>
            <a:endParaRPr sz="14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6" name="Google Shape;56;p5">
            <a:extLst xmlns:a="http://schemas.openxmlformats.org/drawingml/2006/main">
              <a:ext uri="{FF2B5EF4-FFF2-40B4-BE49-F238E27FC236}">
                <a16:creationId xmlns:a16="http://schemas.microsoft.com/office/drawing/2014/main" id="{22D5573E-9A99-4AD6-8C4F-8D1236D4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691640"/>
            <a:ext cx="841248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4200"/>
              <a:buFont typeface="Georgia"/>
              <a:buNone/>
            </a:pPr>
            <a:r>
              <a:rPr sz="4200" b="0" i="1" u="none" cap="none">
                <a:solidFill>
                  <a:srgbClr val="FAFAF7"/>
                </a:solidFill>
                <a:latin typeface="Georgia"/>
                <a:ea typeface="Georgia"/>
                <a:cs typeface="Georgia"/>
              </a:rPr>
              <a:t>The valuable unit</a:t>
            </a:r>
            <a:endParaRPr sz="4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7" name="Google Shape;57;p5">
            <a:extLst xmlns:a="http://schemas.openxmlformats.org/drawingml/2006/main">
              <a:ext uri="{FF2B5EF4-FFF2-40B4-BE49-F238E27FC236}">
                <a16:creationId xmlns:a16="http://schemas.microsoft.com/office/drawing/2014/main" id="{30CF7035-C27C-44BE-A3B6-E53173423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468880"/>
            <a:ext cx="841248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4200"/>
              <a:buFont typeface="Georgia"/>
              <a:buNone/>
            </a:pPr>
            <a:r>
              <a:rPr sz="4200" b="0" i="1" u="none" cap="none">
                <a:solidFill>
                  <a:srgbClr val="FAFAF7"/>
                </a:solidFill>
                <a:latin typeface="Georgia"/>
                <a:ea typeface="Georgia"/>
                <a:cs typeface="Georgia"/>
              </a:rPr>
              <a:t>is not the prompt.</a:t>
            </a:r>
            <a:endParaRPr sz="4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8" name="Google Shape;58;p5">
            <a:extLst xmlns:a="http://schemas.openxmlformats.org/drawingml/2006/main">
              <a:ext uri="{FF2B5EF4-FFF2-40B4-BE49-F238E27FC236}">
                <a16:creationId xmlns:a16="http://schemas.microsoft.com/office/drawing/2014/main" id="{9C419AEF-81CA-4797-89D1-FBCF28AD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246120"/>
            <a:ext cx="841248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4200"/>
              <a:buFont typeface="Georgia"/>
              <a:buNone/>
            </a:pPr>
            <a:r>
              <a:rPr sz="4200" b="0" i="1" u="none" cap="none">
                <a:solidFill>
                  <a:srgbClr val="FF5C39"/>
                </a:solidFill>
                <a:latin typeface="Georgia"/>
                <a:ea typeface="Georgia"/>
                <a:cs typeface="Georgia"/>
              </a:rPr>
              <a:t>It is the loop.</a:t>
            </a:r>
            <a:endParaRPr sz="4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9" name="Google Shape;59;p5">
            <a:extLst xmlns:a="http://schemas.openxmlformats.org/drawingml/2006/main">
              <a:ext uri="{FF2B5EF4-FFF2-40B4-BE49-F238E27FC236}">
                <a16:creationId xmlns:a16="http://schemas.microsoft.com/office/drawing/2014/main" id="{888E591B-8899-45BA-9885-07D03E80E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251960"/>
            <a:ext cx="841248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300"/>
              <a:buFont typeface="Consolas"/>
              <a:buNone/>
            </a:pPr>
            <a:r>
              <a:rPr sz="13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(judgement stays visible)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0" name="Google Shape;60;p5">
            <a:extLst xmlns:a="http://schemas.openxmlformats.org/drawingml/2006/main">
              <a:ext uri="{FF2B5EF4-FFF2-40B4-BE49-F238E27FC236}">
                <a16:creationId xmlns:a16="http://schemas.microsoft.com/office/drawing/2014/main" id="{A348EB23-2B5B-4807-B543-3781B07BC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1" name="Google Shape;61;p5">
            <a:extLst xmlns:a="http://schemas.openxmlformats.org/drawingml/2006/main">
              <a:ext uri="{FF2B5EF4-FFF2-40B4-BE49-F238E27FC236}">
                <a16:creationId xmlns:a16="http://schemas.microsoft.com/office/drawing/2014/main" id="{AEA5B1A1-03A0-45BA-AF03-84FBC055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03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826009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9" name="Google Shape;139;p9">
            <a:extLst xmlns:a="http://schemas.openxmlformats.org/drawingml/2006/main">
              <a:ext uri="{FF2B5EF4-FFF2-40B4-BE49-F238E27FC236}">
                <a16:creationId xmlns:a16="http://schemas.microsoft.com/office/drawing/2014/main" id="{4D4A2DC0-77A7-4248-92AC-DAAB6ADF7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03  /  BEGIN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0" name="Google Shape;140;p9">
            <a:extLst xmlns:a="http://schemas.openxmlformats.org/drawingml/2006/main">
              <a:ext uri="{FF2B5EF4-FFF2-40B4-BE49-F238E27FC236}">
                <a16:creationId xmlns:a16="http://schemas.microsoft.com/office/drawing/2014/main" id="{06B0A1D6-9D2A-4A71-97C6-E8A48E80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777240"/>
            <a:ext cx="84124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3800"/>
              <a:buFont typeface="Georgia"/>
              <a:buNone/>
            </a:pPr>
            <a:r>
              <a:rPr sz="3800" b="0" i="1" u="none" cap="none">
                <a:solidFill>
                  <a:srgbClr val="1A1A1F"/>
                </a:solidFill>
                <a:latin typeface="Georgia"/>
                <a:ea typeface="Georgia"/>
                <a:cs typeface="Georgia"/>
              </a:rPr>
              <a:t>A prompt begins the work.</a:t>
            </a:r>
            <a:endParaRPr sz="3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1" name="Google Shape;141;p9">
            <a:extLst xmlns:a="http://schemas.openxmlformats.org/drawingml/2006/main">
              <a:ext uri="{FF2B5EF4-FFF2-40B4-BE49-F238E27FC236}">
                <a16:creationId xmlns:a16="http://schemas.microsoft.com/office/drawing/2014/main" id="{6E2EC17A-DC40-42B1-975E-06A891E9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01168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THE HUMAN BRINGS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2" name="Google Shape;142;p9">
            <a:extLst xmlns:a="http://schemas.openxmlformats.org/drawingml/2006/main">
              <a:ext uri="{FF2B5EF4-FFF2-40B4-BE49-F238E27FC236}">
                <a16:creationId xmlns:a16="http://schemas.microsoft.com/office/drawing/2014/main" id="{C3EFD4B5-F5BD-4712-B7F2-8BABED40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46888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Intent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3" name="Google Shape;143;p9">
            <a:extLst xmlns:a="http://schemas.openxmlformats.org/drawingml/2006/main">
              <a:ext uri="{FF2B5EF4-FFF2-40B4-BE49-F238E27FC236}">
                <a16:creationId xmlns:a16="http://schemas.microsoft.com/office/drawing/2014/main" id="{D41E90A1-C64B-4616-BBC0-5037DE2E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852928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Consequences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4" name="Google Shape;144;p9">
            <a:extLst xmlns:a="http://schemas.openxmlformats.org/drawingml/2006/main">
              <a:ext uri="{FF2B5EF4-FFF2-40B4-BE49-F238E27FC236}">
                <a16:creationId xmlns:a16="http://schemas.microsoft.com/office/drawing/2014/main" id="{0543F061-5F6F-4D55-98E4-57DE12657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236976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Constraints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5" name="Google Shape;145;p9">
            <a:extLst xmlns:a="http://schemas.openxmlformats.org/drawingml/2006/main">
              <a:ext uri="{FF2B5EF4-FFF2-40B4-BE49-F238E27FC236}">
                <a16:creationId xmlns:a16="http://schemas.microsoft.com/office/drawing/2014/main" id="{B7ECA970-5DCC-4E83-92E0-E10CCD9B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21024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Unknowns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0" name="Google Shape;150;p9">
            <a:extLst xmlns:a="http://schemas.openxmlformats.org/drawingml/2006/main">
              <a:ext uri="{FF2B5EF4-FFF2-40B4-BE49-F238E27FC236}">
                <a16:creationId xmlns:a16="http://schemas.microsoft.com/office/drawing/2014/main" id="{2B3716DB-4FF3-41C5-91E7-29E5E296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89120"/>
            <a:ext cx="128016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39"/>
          </a:solidFill>
          <a:ln xmlns:a="http://schemas.openxmlformats.org/drawingml/2006/main" w="12700" cmpd="sng">
            <a:solidFill>
              <a:srgbClr val="FF5C39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">
            <a:extLst xmlns:a="http://schemas.openxmlformats.org/drawingml/2006/main">
              <a:ext uri="{FF2B5EF4-FFF2-40B4-BE49-F238E27FC236}">
                <a16:creationId xmlns:a16="http://schemas.microsoft.com/office/drawing/2014/main" id="{2D400D66-BEB5-4860-840B-6C49D1EA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89120"/>
            <a:ext cx="12801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SHOW THE TRAIL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2" name="Google Shape;152;p9">
            <a:extLst xmlns:a="http://schemas.openxmlformats.org/drawingml/2006/main">
              <a:ext uri="{FF2B5EF4-FFF2-40B4-BE49-F238E27FC236}">
                <a16:creationId xmlns:a16="http://schemas.microsoft.com/office/drawing/2014/main" id="{910F8A5B-1786-49E1-8D50-8DE07318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3" name="Google Shape;153;p9">
            <a:extLst xmlns:a="http://schemas.openxmlformats.org/drawingml/2006/main">
              <a:ext uri="{FF2B5EF4-FFF2-40B4-BE49-F238E27FC236}">
                <a16:creationId xmlns:a16="http://schemas.microsoft.com/office/drawing/2014/main" id="{00DBAE41-9E24-468E-B8BB-90955149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04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4" name="begin-idea">
            <a:extLst xmlns:a="http://schemas.openxmlformats.org/drawingml/2006/main">
              <a:ext uri="{FF2B5EF4-FFF2-40B4-BE49-F238E27FC236}">
                <a16:creationId xmlns:a16="http://schemas.microsoft.com/office/drawing/2014/main" id="{733C13A8-9B34-4B40-90E5-0CA47047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34315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 w="12668">
            <a:solidFill>
              <a:srgbClr val="1A1A1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A1A1F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IDEA</a:t>
            </a:r>
          </a:p>
        </p:txBody>
      </p:sp>
      <p:sp>
        <p:nvSpPr>
          <p:cNvPr id="155" name="begin-discussion">
            <a:extLst xmlns:a="http://schemas.openxmlformats.org/drawingml/2006/main">
              <a:ext uri="{FF2B5EF4-FFF2-40B4-BE49-F238E27FC236}">
                <a16:creationId xmlns:a16="http://schemas.microsoft.com/office/drawing/2014/main" id="{6DAD6DD3-FDF0-46EB-A9BD-5575E7E40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4800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39"/>
          </a:solidFill>
          <a:ln xmlns:a="http://schemas.openxmlformats.org/drawingml/2006/main" w="12668">
            <a:solidFill>
              <a:srgbClr val="FF5C3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AFAF7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DISCUSSION</a:t>
            </a:r>
          </a:p>
        </p:txBody>
      </p:sp>
      <p:sp>
        <p:nvSpPr>
          <p:cNvPr id="156" name="begin-plan">
            <a:extLst xmlns:a="http://schemas.openxmlformats.org/drawingml/2006/main">
              <a:ext uri="{FF2B5EF4-FFF2-40B4-BE49-F238E27FC236}">
                <a16:creationId xmlns:a16="http://schemas.microsoft.com/office/drawing/2014/main" id="{9EAC24EF-20AD-4A8B-92CD-CE4B74320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52850"/>
            <a:ext cx="209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 w="12668">
            <a:solidFill>
              <a:srgbClr val="1A1A1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A1A1F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PLAN</a:t>
            </a:r>
          </a:p>
        </p:txBody>
      </p:sp>
      <p:cxnSp>
        <p:nvCxnSpPr>
          <p:cNvPr id="173" name=""/>
          <p:cNvCxnSpPr>
            <a:stCxn xmlns:a="http://schemas.openxmlformats.org/drawingml/2006/main" id="154" idx="2"/>
            <a:endCxn xmlns:a="http://schemas.openxmlformats.org/drawingml/2006/main" id="155" idx="0"/>
          </p:cNvCxnSpPr>
          <p:nvPr/>
        </p:nvCxnSpPr>
        <p:spPr>
          <a:xfrm xmlns:a="http://schemas.openxmlformats.org/drawingml/2006/main">
            <a:off x="7486650" y="2800350"/>
            <a:ext cx="0" cy="2476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5C39"/>
            </a:solidFill>
            <a:prstDash val="solid"/>
            <a:tailEnd type="arrow" w="sm" len="sm"/>
          </a:ln>
        </p:spPr>
      </p:cxnSp>
      <p:cxnSp>
        <p:nvCxnSpPr>
          <p:cNvPr id="174" name=""/>
          <p:cNvCxnSpPr>
            <a:stCxn xmlns:a="http://schemas.openxmlformats.org/drawingml/2006/main" id="155" idx="2"/>
            <a:endCxn xmlns:a="http://schemas.openxmlformats.org/drawingml/2006/main" id="156" idx="0"/>
          </p:cNvCxnSpPr>
          <p:nvPr/>
        </p:nvCxnSpPr>
        <p:spPr>
          <a:xfrm xmlns:a="http://schemas.openxmlformats.org/drawingml/2006/main">
            <a:off x="7486650" y="3505200"/>
            <a:ext cx="0" cy="2476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5C39"/>
            </a:solidFill>
            <a:prstDash val="solid"/>
            <a:tailEnd type="arrow" w="sm" len="sm"/>
          </a:ln>
        </p:spPr>
      </p:cxnSp>
    </p:spTree>
    <p:extLst>
      <p:ext uri="{BB962C8B-B14F-4D97-AF65-F5344CB8AC3E}">
        <p14:creationId xmlns:p14="http://schemas.microsoft.com/office/powerpoint/2010/main" val="14791859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Google Shape;88;p7">
            <a:extLst xmlns:a="http://schemas.openxmlformats.org/drawingml/2006/main">
              <a:ext uri="{FF2B5EF4-FFF2-40B4-BE49-F238E27FC236}">
                <a16:creationId xmlns:a16="http://schemas.microsoft.com/office/drawing/2014/main" id="{AEBA2229-F360-4C79-AE4A-E4451F84E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04  /  HUMAN CONTROL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9" name="Google Shape;89;p7">
            <a:extLst xmlns:a="http://schemas.openxmlformats.org/drawingml/2006/main">
              <a:ext uri="{FF2B5EF4-FFF2-40B4-BE49-F238E27FC236}">
                <a16:creationId xmlns:a16="http://schemas.microsoft.com/office/drawing/2014/main" id="{34C31EFD-E8A7-488E-8F59-D8DAE8F8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777240"/>
            <a:ext cx="84124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4200"/>
              <a:buFont typeface="Georgia"/>
              <a:buNone/>
            </a:pPr>
            <a:r>
              <a:rPr sz="4200" b="0" i="1" u="none" cap="none">
                <a:solidFill>
                  <a:srgbClr val="1A1A1F"/>
                </a:solidFill>
                <a:latin typeface="Georgia"/>
                <a:ea typeface="Georgia"/>
                <a:cs typeface="Georgia"/>
              </a:rPr>
              <a:t>The loop keeps the human inside the work.</a:t>
            </a:r>
            <a:endParaRPr sz="4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0" name="Google Shape;90;p7">
            <a:extLst xmlns:a="http://schemas.openxmlformats.org/drawingml/2006/main">
              <a:ext uri="{FF2B5EF4-FFF2-40B4-BE49-F238E27FC236}">
                <a16:creationId xmlns:a16="http://schemas.microsoft.com/office/drawing/2014/main" id="{AC99229D-BB2A-43A3-B473-188BEB19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103120"/>
            <a:ext cx="237744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 w="19050" cmpd="sng">
            <a:solidFill>
              <a:srgbClr val="1A1A1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7">
            <a:extLst xmlns:a="http://schemas.openxmlformats.org/drawingml/2006/main">
              <a:ext uri="{FF2B5EF4-FFF2-40B4-BE49-F238E27FC236}">
                <a16:creationId xmlns:a16="http://schemas.microsoft.com/office/drawing/2014/main" id="{0D17BFB2-7B7E-4FCE-9BE7-4D29B486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4028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000"/>
              <a:buFont typeface="Consolas"/>
              <a:buNone/>
            </a:pPr>
            <a:r>
              <a:rPr sz="1000" b="1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SHAPE</a:t>
            </a:r>
            <a:endParaRPr sz="1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2" name="Google Shape;92;p7">
            <a:extLst xmlns:a="http://schemas.openxmlformats.org/drawingml/2006/main">
              <a:ext uri="{FF2B5EF4-FFF2-40B4-BE49-F238E27FC236}">
                <a16:creationId xmlns:a16="http://schemas.microsoft.com/office/drawing/2014/main" id="{8A30198E-A420-4EA5-9060-201E5183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9748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Interrogate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3" name="Google Shape;93;p7">
            <a:extLst xmlns:a="http://schemas.openxmlformats.org/drawingml/2006/main">
              <a:ext uri="{FF2B5EF4-FFF2-40B4-BE49-F238E27FC236}">
                <a16:creationId xmlns:a16="http://schemas.microsoft.com/office/drawing/2014/main" id="{B87E0CEF-F55F-4849-A54D-89DE7BC44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008376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Surface assumptions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4" name="Google Shape;94;p7">
            <a:extLst xmlns:a="http://schemas.openxmlformats.org/drawingml/2006/main">
              <a:ext uri="{FF2B5EF4-FFF2-40B4-BE49-F238E27FC236}">
                <a16:creationId xmlns:a16="http://schemas.microsoft.com/office/drawing/2014/main" id="{F5E7AC58-2036-4EE6-8530-D7E4A7BA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19272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Plan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7">
            <a:extLst xmlns:a="http://schemas.openxmlformats.org/drawingml/2006/main">
              <a:ext uri="{FF2B5EF4-FFF2-40B4-BE49-F238E27FC236}">
                <a16:creationId xmlns:a16="http://schemas.microsoft.com/office/drawing/2014/main" id="{85958F6E-0045-4F77-940F-44594AFB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30168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Challenge the plan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6" name="Google Shape;96;p7">
            <a:extLst xmlns:a="http://schemas.openxmlformats.org/drawingml/2006/main">
              <a:ext uri="{FF2B5EF4-FFF2-40B4-BE49-F238E27FC236}">
                <a16:creationId xmlns:a16="http://schemas.microsoft.com/office/drawing/2014/main" id="{949305CD-0889-40C9-9BF0-4A3CCFF8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63240"/>
            <a:ext cx="3657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2800"/>
              <a:buFont typeface="Calibri"/>
              <a:buNone/>
            </a:pPr>
            <a:r>
              <a:rPr sz="2800" b="0" i="0" u="none" cap="none">
                <a:solidFill>
                  <a:srgbClr val="FF5C39"/>
                </a:solidFill>
                <a:latin typeface="Calibri"/>
                <a:ea typeface="Calibri"/>
                <a:cs typeface="Calibri"/>
              </a:rPr>
              <a:t>→</a:t>
            </a:r>
            <a:endParaRPr sz="2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7" name="Google Shape;97;p7">
            <a:extLst xmlns:a="http://schemas.openxmlformats.org/drawingml/2006/main">
              <a:ext uri="{FF2B5EF4-FFF2-40B4-BE49-F238E27FC236}">
                <a16:creationId xmlns:a16="http://schemas.microsoft.com/office/drawing/2014/main" id="{1C483DEF-D76D-4B42-935D-5CF2574D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2103120"/>
            <a:ext cx="237744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 w="19050" cmpd="sng">
            <a:solidFill>
              <a:srgbClr val="1A1A1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7">
            <a:extLst xmlns:a="http://schemas.openxmlformats.org/drawingml/2006/main">
              <a:ext uri="{FF2B5EF4-FFF2-40B4-BE49-F238E27FC236}">
                <a16:creationId xmlns:a16="http://schemas.microsoft.com/office/drawing/2014/main" id="{99949900-1EB7-4C3A-8F96-A2D01F12D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24028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000"/>
              <a:buFont typeface="Consolas"/>
              <a:buNone/>
            </a:pPr>
            <a:r>
              <a:rPr sz="1000" b="1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AUTHORISE</a:t>
            </a:r>
            <a:endParaRPr sz="1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9" name="Google Shape;99;p7">
            <a:extLst xmlns:a="http://schemas.openxmlformats.org/drawingml/2006/main">
              <a:ext uri="{FF2B5EF4-FFF2-40B4-BE49-F238E27FC236}">
                <a16:creationId xmlns:a16="http://schemas.microsoft.com/office/drawing/2014/main" id="{0D9CC4B2-342E-4E76-8C75-A5D6E9DF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69748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Choose the outcome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0" name="Google Shape;100;p7">
            <a:extLst xmlns:a="http://schemas.openxmlformats.org/drawingml/2006/main">
              <a:ext uri="{FF2B5EF4-FFF2-40B4-BE49-F238E27FC236}">
                <a16:creationId xmlns:a16="http://schemas.microsoft.com/office/drawing/2014/main" id="{8BC27081-1C63-4017-A213-99B5C238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008376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Own trade-offs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1" name="Google Shape;101;p7">
            <a:extLst xmlns:a="http://schemas.openxmlformats.org/drawingml/2006/main">
              <a:ext uri="{FF2B5EF4-FFF2-40B4-BE49-F238E27FC236}">
                <a16:creationId xmlns:a16="http://schemas.microsoft.com/office/drawing/2014/main" id="{8C610C55-8C70-4467-BFDC-5649106D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319272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Set the evidence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2" name="Google Shape;102;p7">
            <a:extLst xmlns:a="http://schemas.openxmlformats.org/drawingml/2006/main">
              <a:ext uri="{FF2B5EF4-FFF2-40B4-BE49-F238E27FC236}">
                <a16:creationId xmlns:a16="http://schemas.microsoft.com/office/drawing/2014/main" id="{EA553613-A2B0-4908-8E56-2E24510D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630168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Approve or redirect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3" name="Google Shape;103;p7">
            <a:extLst xmlns:a="http://schemas.openxmlformats.org/drawingml/2006/main">
              <a:ext uri="{FF2B5EF4-FFF2-40B4-BE49-F238E27FC236}">
                <a16:creationId xmlns:a16="http://schemas.microsoft.com/office/drawing/2014/main" id="{3ABD8C39-99DD-441E-AC88-A0C9F6377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063240"/>
            <a:ext cx="3657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2800"/>
              <a:buFont typeface="Calibri"/>
              <a:buNone/>
            </a:pPr>
            <a:r>
              <a:rPr sz="2800" b="0" i="0" u="none" cap="none">
                <a:solidFill>
                  <a:srgbClr val="FF5C39"/>
                </a:solidFill>
                <a:latin typeface="Calibri"/>
                <a:ea typeface="Calibri"/>
                <a:cs typeface="Calibri"/>
              </a:rPr>
              <a:t>→</a:t>
            </a:r>
            <a:endParaRPr sz="2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4" name="Google Shape;104;p7">
            <a:extLst xmlns:a="http://schemas.openxmlformats.org/drawingml/2006/main">
              <a:ext uri="{FF2B5EF4-FFF2-40B4-BE49-F238E27FC236}">
                <a16:creationId xmlns:a16="http://schemas.microsoft.com/office/drawing/2014/main" id="{480D3978-4999-4837-9382-907DAF09D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2103120"/>
            <a:ext cx="237744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 w="19050" cmpd="sng">
            <a:solidFill>
              <a:srgbClr val="1A1A1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7">
            <a:extLst xmlns:a="http://schemas.openxmlformats.org/drawingml/2006/main">
              <a:ext uri="{FF2B5EF4-FFF2-40B4-BE49-F238E27FC236}">
                <a16:creationId xmlns:a16="http://schemas.microsoft.com/office/drawing/2014/main" id="{DC6C0E04-D023-4670-94F5-C7DF6AC13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24028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000"/>
              <a:buFont typeface="Consolas"/>
              <a:buNone/>
            </a:pPr>
            <a:r>
              <a:rPr sz="1000" b="1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EVALUATE</a:t>
            </a:r>
            <a:endParaRPr sz="1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6" name="Google Shape;106;p7">
            <a:extLst xmlns:a="http://schemas.openxmlformats.org/drawingml/2006/main">
              <a:ext uri="{FF2B5EF4-FFF2-40B4-BE49-F238E27FC236}">
                <a16:creationId xmlns:a16="http://schemas.microsoft.com/office/drawing/2014/main" id="{F6E9E4F2-57A4-4FAB-B0F2-3A3B8EE6F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69748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Inspect the result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7" name="Google Shape;107;p7">
            <a:extLst xmlns:a="http://schemas.openxmlformats.org/drawingml/2006/main">
              <a:ext uri="{FF2B5EF4-FFF2-40B4-BE49-F238E27FC236}">
                <a16:creationId xmlns:a16="http://schemas.microsoft.com/office/drawing/2014/main" id="{3031252F-C35B-4BC1-A924-7ED464899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008376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Test boundaries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8" name="Google Shape;108;p7">
            <a:extLst xmlns:a="http://schemas.openxmlformats.org/drawingml/2006/main">
              <a:ext uri="{FF2B5EF4-FFF2-40B4-BE49-F238E27FC236}">
                <a16:creationId xmlns:a16="http://schemas.microsoft.com/office/drawing/2014/main" id="{D0C9AE17-6B23-4533-848F-A190FC451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319272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Judge the evidence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9" name="Google Shape;109;p7">
            <a:extLst xmlns:a="http://schemas.openxmlformats.org/drawingml/2006/main">
              <a:ext uri="{FF2B5EF4-FFF2-40B4-BE49-F238E27FC236}">
                <a16:creationId xmlns:a16="http://schemas.microsoft.com/office/drawing/2014/main" id="{D61B3C5D-CF66-43F0-8C36-25CDD4FE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630168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Update the context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0" name="Google Shape;110;p7">
            <a:extLst xmlns:a="http://schemas.openxmlformats.org/drawingml/2006/main">
              <a:ext uri="{FF2B5EF4-FFF2-40B4-BE49-F238E27FC236}">
                <a16:creationId xmlns:a16="http://schemas.microsoft.com/office/drawing/2014/main" id="{3CE00B5F-B1BD-4380-8770-F3BE6A90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1" name="Google Shape;111;p7">
            <a:extLst xmlns:a="http://schemas.openxmlformats.org/drawingml/2006/main">
              <a:ext uri="{FF2B5EF4-FFF2-40B4-BE49-F238E27FC236}">
                <a16:creationId xmlns:a16="http://schemas.microsoft.com/office/drawing/2014/main" id="{A9ED79D7-F73A-4A1E-B2C6-0DC923C77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05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837347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6">
            <a:extLst xmlns:a="http://schemas.openxmlformats.org/drawingml/2006/main">
              <a:ext uri="{FF2B5EF4-FFF2-40B4-BE49-F238E27FC236}">
                <a16:creationId xmlns:a16="http://schemas.microsoft.com/office/drawing/2014/main" id="{5920FDF9-8F4E-486B-A0E6-76A1633E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05  /  CHECKPOINTS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8" name="Google Shape;68;p6">
            <a:extLst xmlns:a="http://schemas.openxmlformats.org/drawingml/2006/main">
              <a:ext uri="{FF2B5EF4-FFF2-40B4-BE49-F238E27FC236}">
                <a16:creationId xmlns:a16="http://schemas.microsoft.com/office/drawing/2014/main" id="{9EE91708-0FC8-4C29-8F76-3732BD2C2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777240"/>
            <a:ext cx="84124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4800"/>
              <a:buFont typeface="Georgia"/>
              <a:buNone/>
            </a:pPr>
            <a:r>
              <a:rPr sz="4800" b="0" i="1" u="none" cap="none">
                <a:solidFill>
                  <a:srgbClr val="1A1A1F"/>
                </a:solidFill>
                <a:latin typeface="Georgia"/>
                <a:ea typeface="Georgia"/>
                <a:cs typeface="Georgia"/>
              </a:rPr>
              <a:t>SPEND HUMAN ATTENTION ON CONSEQUENCES.</a:t>
            </a:r>
            <a:endParaRPr sz="4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9" name="Google Shape;69;p6">
            <a:extLst xmlns:a="http://schemas.openxmlformats.org/drawingml/2006/main">
              <a:ext uri="{FF2B5EF4-FFF2-40B4-BE49-F238E27FC236}">
                <a16:creationId xmlns:a16="http://schemas.microsoft.com/office/drawing/2014/main" id="{4EC88FD9-0113-4070-8ABB-F098A9177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1031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DO NOT REVIEW EVERY TOKEN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0" name="Google Shape;70;p6">
            <a:extLst xmlns:a="http://schemas.openxmlformats.org/drawingml/2006/main">
              <a:ext uri="{FF2B5EF4-FFF2-40B4-BE49-F238E27FC236}">
                <a16:creationId xmlns:a16="http://schemas.microsoft.com/office/drawing/2014/main" id="{9CD1E61B-C107-4621-99EB-013588D5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46888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400"/>
              <a:buFont typeface="Calibri"/>
              <a:buNone/>
            </a:pPr>
            <a:r>
              <a:rPr sz="14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Generation</a:t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1" name="Google Shape;71;p6">
            <a:extLst xmlns:a="http://schemas.openxmlformats.org/drawingml/2006/main">
              <a:ext uri="{FF2B5EF4-FFF2-40B4-BE49-F238E27FC236}">
                <a16:creationId xmlns:a16="http://schemas.microsoft.com/office/drawing/2014/main" id="{CD9E92D5-00DF-45A6-8BB7-81F7D4122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79776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400"/>
              <a:buFont typeface="Calibri"/>
              <a:buNone/>
            </a:pPr>
            <a:r>
              <a:rPr sz="14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Edits</a:t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2" name="Google Shape;72;p6">
            <a:extLst xmlns:a="http://schemas.openxmlformats.org/drawingml/2006/main">
              <a:ext uri="{FF2B5EF4-FFF2-40B4-BE49-F238E27FC236}">
                <a16:creationId xmlns:a16="http://schemas.microsoft.com/office/drawing/2014/main" id="{1B5A9780-32F2-4275-AFB7-D84265096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090672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400"/>
              <a:buFont typeface="Calibri"/>
              <a:buNone/>
            </a:pPr>
            <a:r>
              <a:rPr sz="14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Retries</a:t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3" name="Google Shape;73;p6">
            <a:extLst xmlns:a="http://schemas.openxmlformats.org/drawingml/2006/main">
              <a:ext uri="{FF2B5EF4-FFF2-40B4-BE49-F238E27FC236}">
                <a16:creationId xmlns:a16="http://schemas.microsoft.com/office/drawing/2014/main" id="{522E238B-04B4-4157-AC3D-4CBDBFE8B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401568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400"/>
              <a:buFont typeface="Calibri"/>
              <a:buNone/>
            </a:pPr>
            <a:r>
              <a:rPr sz="14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Tool calls</a:t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4" name="Google Shape;74;p6">
            <a:extLst xmlns:a="http://schemas.openxmlformats.org/drawingml/2006/main">
              <a:ext uri="{FF2B5EF4-FFF2-40B4-BE49-F238E27FC236}">
                <a16:creationId xmlns:a16="http://schemas.microsoft.com/office/drawing/2014/main" id="{D3A4F75A-C35D-43AC-9B31-3FB080D7E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712464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400"/>
              <a:buFont typeface="Calibri"/>
              <a:buNone/>
            </a:pPr>
            <a:r>
              <a:rPr sz="14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Implementation detail</a:t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cxnSp>
        <p:nvCxnSpPr>
          <p:cNvPr id="118" name="Google Shape;75;p6"/>
          <p:cNvCxnSpPr/>
          <p:nvPr/>
        </p:nvCxnSpPr>
        <p:spPr>
          <a:xfrm xmlns:a="http://schemas.openxmlformats.org/drawingml/2006/main">
            <a:off x="4572000" y="2103120"/>
            <a:ext cx="0" cy="22860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E5E3D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6" name="Google Shape;76;p6">
            <a:extLst xmlns:a="http://schemas.openxmlformats.org/drawingml/2006/main">
              <a:ext uri="{FF2B5EF4-FFF2-40B4-BE49-F238E27FC236}">
                <a16:creationId xmlns:a16="http://schemas.microsoft.com/office/drawing/2014/main" id="{E5D1CABD-CC73-4E51-8958-10D8D8EF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1031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CHECK IN AT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7" name="Google Shape;77;p6">
            <a:extLst xmlns:a="http://schemas.openxmlformats.org/drawingml/2006/main">
              <a:ext uri="{FF2B5EF4-FFF2-40B4-BE49-F238E27FC236}">
                <a16:creationId xmlns:a16="http://schemas.microsoft.com/office/drawing/2014/main" id="{6C68A983-D4EC-4E39-8E33-A3280F602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468880"/>
            <a:ext cx="393192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3200"/>
              <a:buFont typeface="Consolas"/>
              <a:buNone/>
            </a:pPr>
            <a:r>
              <a:rPr sz="3200" b="1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Consequential moments</a:t>
            </a:r>
            <a:endParaRPr sz="3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8" name="Google Shape;78;p6">
            <a:extLst xmlns:a="http://schemas.openxmlformats.org/drawingml/2006/main">
              <a:ext uri="{FF2B5EF4-FFF2-40B4-BE49-F238E27FC236}">
                <a16:creationId xmlns:a16="http://schemas.microsoft.com/office/drawing/2014/main" id="{2DC6FE49-38EA-4608-995B-F736FE13E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063240"/>
            <a:ext cx="3931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6B6B73"/>
                </a:solidFill>
                <a:latin typeface="Calibri"/>
                <a:ea typeface="Calibri"/>
                <a:cs typeface="Calibri"/>
              </a:rPr>
              <a:t>Intent • risk • uncertainty • irreversible choices • approval • proof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9" name="Google Shape;79;p6">
            <a:extLst xmlns:a="http://schemas.openxmlformats.org/drawingml/2006/main">
              <a:ext uri="{FF2B5EF4-FFF2-40B4-BE49-F238E27FC236}">
                <a16:creationId xmlns:a16="http://schemas.microsoft.com/office/drawing/2014/main" id="{1149CA17-FB52-4509-B184-A6AFB6F6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4160520"/>
            <a:ext cx="128016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39"/>
          </a:solidFill>
          <a:ln xmlns:a="http://schemas.openxmlformats.org/drawingml/2006/main" w="12700" cmpd="sng">
            <a:solidFill>
              <a:srgbClr val="FF5C39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6">
            <a:extLst xmlns:a="http://schemas.openxmlformats.org/drawingml/2006/main">
              <a:ext uri="{FF2B5EF4-FFF2-40B4-BE49-F238E27FC236}">
                <a16:creationId xmlns:a16="http://schemas.microsoft.com/office/drawing/2014/main" id="{3F8F7DC9-5AED-4276-A68F-BB2AD2157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4160520"/>
            <a:ext cx="12801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CHECKPOINT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1" name="Google Shape;81;p6">
            <a:extLst xmlns:a="http://schemas.openxmlformats.org/drawingml/2006/main">
              <a:ext uri="{FF2B5EF4-FFF2-40B4-BE49-F238E27FC236}">
                <a16:creationId xmlns:a16="http://schemas.microsoft.com/office/drawing/2014/main" id="{B4E6919E-CAA3-444F-9EE1-B760792C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2" name="Google Shape;82;p6">
            <a:extLst xmlns:a="http://schemas.openxmlformats.org/drawingml/2006/main">
              <a:ext uri="{FF2B5EF4-FFF2-40B4-BE49-F238E27FC236}">
                <a16:creationId xmlns:a16="http://schemas.microsoft.com/office/drawing/2014/main" id="{A6B92F23-680A-496D-8783-BB587519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06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6429247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Google Shape;88;p7">
            <a:extLst xmlns:a="http://schemas.openxmlformats.org/drawingml/2006/main">
              <a:ext uri="{FF2B5EF4-FFF2-40B4-BE49-F238E27FC236}">
                <a16:creationId xmlns:a16="http://schemas.microsoft.com/office/drawing/2014/main" id="{AEBA2229-F360-4C79-AE4A-E4451F84E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06  /  THE TAF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9" name="Google Shape;89;p7">
            <a:extLst xmlns:a="http://schemas.openxmlformats.org/drawingml/2006/main">
              <a:ext uri="{FF2B5EF4-FFF2-40B4-BE49-F238E27FC236}">
                <a16:creationId xmlns:a16="http://schemas.microsoft.com/office/drawing/2014/main" id="{34C31EFD-E8A7-488E-8F59-D8DAE8F83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777240"/>
            <a:ext cx="84124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4200"/>
              <a:buFont typeface="Georgia"/>
              <a:buNone/>
            </a:pPr>
            <a:r>
              <a:rPr sz="4200" b="0" i="1" u="none" cap="none">
                <a:solidFill>
                  <a:srgbClr val="1A1A1F"/>
                </a:solidFill>
                <a:latin typeface="Georgia"/>
                <a:ea typeface="Georgia"/>
                <a:cs typeface="Georgia"/>
              </a:rPr>
              <a:t>A small Markdown layer makes the gates portable.</a:t>
            </a:r>
            <a:endParaRPr sz="4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0" name="Google Shape;90;p7">
            <a:extLst xmlns:a="http://schemas.openxmlformats.org/drawingml/2006/main">
              <a:ext uri="{FF2B5EF4-FFF2-40B4-BE49-F238E27FC236}">
                <a16:creationId xmlns:a16="http://schemas.microsoft.com/office/drawing/2014/main" id="{AC99229D-BB2A-43A3-B473-188BEB19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103120"/>
            <a:ext cx="237744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 w="19050" cmpd="sng">
            <a:solidFill>
              <a:srgbClr val="1A1A1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7">
            <a:extLst xmlns:a="http://schemas.openxmlformats.org/drawingml/2006/main">
              <a:ext uri="{FF2B5EF4-FFF2-40B4-BE49-F238E27FC236}">
                <a16:creationId xmlns:a16="http://schemas.microsoft.com/office/drawing/2014/main" id="{0D17BFB2-7B7E-4FCE-9BE7-4D29B486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4028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000"/>
              <a:buFont typeface="Consolas"/>
              <a:buNone/>
            </a:pPr>
            <a:r>
              <a:rPr sz="1000" b="1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INTAKE</a:t>
            </a:r>
            <a:endParaRPr sz="1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2" name="Google Shape;92;p7">
            <a:extLst xmlns:a="http://schemas.openxmlformats.org/drawingml/2006/main">
              <a:ext uri="{FF2B5EF4-FFF2-40B4-BE49-F238E27FC236}">
                <a16:creationId xmlns:a16="http://schemas.microsoft.com/office/drawing/2014/main" id="{8A30198E-A420-4EA5-9060-201E5183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9748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Problem + outcome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3" name="Google Shape;93;p7">
            <a:extLst xmlns:a="http://schemas.openxmlformats.org/drawingml/2006/main">
              <a:ext uri="{FF2B5EF4-FFF2-40B4-BE49-F238E27FC236}">
                <a16:creationId xmlns:a16="http://schemas.microsoft.com/office/drawing/2014/main" id="{B87E0CEF-F55F-4849-A54D-89DE7BC44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008376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Questions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4" name="Google Shape;94;p7">
            <a:extLst xmlns:a="http://schemas.openxmlformats.org/drawingml/2006/main">
              <a:ext uri="{FF2B5EF4-FFF2-40B4-BE49-F238E27FC236}">
                <a16:creationId xmlns:a16="http://schemas.microsoft.com/office/drawing/2014/main" id="{F5E7AC58-2036-4EE6-8530-D7E4A7BA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19272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Assumptions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7">
            <a:extLst xmlns:a="http://schemas.openxmlformats.org/drawingml/2006/main">
              <a:ext uri="{FF2B5EF4-FFF2-40B4-BE49-F238E27FC236}">
                <a16:creationId xmlns:a16="http://schemas.microsoft.com/office/drawing/2014/main" id="{85958F6E-0045-4F77-940F-44594AFB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30168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Unknowns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6" name="Google Shape;96;p7">
            <a:extLst xmlns:a="http://schemas.openxmlformats.org/drawingml/2006/main">
              <a:ext uri="{FF2B5EF4-FFF2-40B4-BE49-F238E27FC236}">
                <a16:creationId xmlns:a16="http://schemas.microsoft.com/office/drawing/2014/main" id="{949305CD-0889-40C9-9BF0-4A3CCFF8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63240"/>
            <a:ext cx="3657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2800"/>
              <a:buFont typeface="Calibri"/>
              <a:buNone/>
            </a:pPr>
            <a:r>
              <a:rPr sz="2800" b="0" i="0" u="none" cap="none">
                <a:solidFill>
                  <a:srgbClr val="FF5C39"/>
                </a:solidFill>
                <a:latin typeface="Calibri"/>
                <a:ea typeface="Calibri"/>
                <a:cs typeface="Calibri"/>
              </a:rPr>
              <a:t>→</a:t>
            </a:r>
            <a:endParaRPr sz="2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7" name="Google Shape;97;p7">
            <a:extLst xmlns:a="http://schemas.openxmlformats.org/drawingml/2006/main">
              <a:ext uri="{FF2B5EF4-FFF2-40B4-BE49-F238E27FC236}">
                <a16:creationId xmlns:a16="http://schemas.microsoft.com/office/drawing/2014/main" id="{1C483DEF-D76D-4B42-935D-5CF2574D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" y="2103120"/>
            <a:ext cx="237744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 w="19050" cmpd="sng">
            <a:solidFill>
              <a:srgbClr val="1A1A1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7">
            <a:extLst xmlns:a="http://schemas.openxmlformats.org/drawingml/2006/main">
              <a:ext uri="{FF2B5EF4-FFF2-40B4-BE49-F238E27FC236}">
                <a16:creationId xmlns:a16="http://schemas.microsoft.com/office/drawing/2014/main" id="{99949900-1EB7-4C3A-8F96-A2D01F12D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24028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000"/>
              <a:buFont typeface="Consolas"/>
              <a:buNone/>
            </a:pPr>
            <a:r>
              <a:rPr sz="1000" b="1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PLAN + CHALLENGE</a:t>
            </a:r>
            <a:endParaRPr sz="1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9" name="Google Shape;99;p7">
            <a:extLst xmlns:a="http://schemas.openxmlformats.org/drawingml/2006/main">
              <a:ext uri="{FF2B5EF4-FFF2-40B4-BE49-F238E27FC236}">
                <a16:creationId xmlns:a16="http://schemas.microsoft.com/office/drawing/2014/main" id="{0D9CC4B2-342E-4E76-8C75-A5D6E9DF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69748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Proposal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0" name="Google Shape;100;p7">
            <a:extLst xmlns:a="http://schemas.openxmlformats.org/drawingml/2006/main">
              <a:ext uri="{FF2B5EF4-FFF2-40B4-BE49-F238E27FC236}">
                <a16:creationId xmlns:a16="http://schemas.microsoft.com/office/drawing/2014/main" id="{8BC27081-1C63-4017-A213-99B5C238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008376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Criteria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1" name="Google Shape;101;p7">
            <a:extLst xmlns:a="http://schemas.openxmlformats.org/drawingml/2006/main">
              <a:ext uri="{FF2B5EF4-FFF2-40B4-BE49-F238E27FC236}">
                <a16:creationId xmlns:a16="http://schemas.microsoft.com/office/drawing/2014/main" id="{8C610C55-8C70-4467-BFDC-5649106D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319272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Critique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2" name="Google Shape;102;p7">
            <a:extLst xmlns:a="http://schemas.openxmlformats.org/drawingml/2006/main">
              <a:ext uri="{FF2B5EF4-FFF2-40B4-BE49-F238E27FC236}">
                <a16:creationId xmlns:a16="http://schemas.microsoft.com/office/drawing/2014/main" id="{EA553613-A2B0-4908-8E56-2E24510D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630168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Revision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3" name="Google Shape;103;p7">
            <a:extLst xmlns:a="http://schemas.openxmlformats.org/drawingml/2006/main">
              <a:ext uri="{FF2B5EF4-FFF2-40B4-BE49-F238E27FC236}">
                <a16:creationId xmlns:a16="http://schemas.microsoft.com/office/drawing/2014/main" id="{3ABD8C39-99DD-441E-AC88-A0C9F6377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063240"/>
            <a:ext cx="36576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2800"/>
              <a:buFont typeface="Calibri"/>
              <a:buNone/>
            </a:pPr>
            <a:r>
              <a:rPr sz="2800" b="0" i="0" u="none" cap="none">
                <a:solidFill>
                  <a:srgbClr val="FF5C39"/>
                </a:solidFill>
                <a:latin typeface="Calibri"/>
                <a:ea typeface="Calibri"/>
                <a:cs typeface="Calibri"/>
              </a:rPr>
              <a:t>→</a:t>
            </a:r>
            <a:endParaRPr sz="2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4" name="Google Shape;104;p7">
            <a:extLst xmlns:a="http://schemas.openxmlformats.org/drawingml/2006/main">
              <a:ext uri="{FF2B5EF4-FFF2-40B4-BE49-F238E27FC236}">
                <a16:creationId xmlns:a16="http://schemas.microsoft.com/office/drawing/2014/main" id="{480D3978-4999-4837-9382-907DAF09D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2103120"/>
            <a:ext cx="237744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 w="19050" cmpd="sng">
            <a:solidFill>
              <a:srgbClr val="1A1A1F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7">
            <a:extLst xmlns:a="http://schemas.openxmlformats.org/drawingml/2006/main">
              <a:ext uri="{FF2B5EF4-FFF2-40B4-BE49-F238E27FC236}">
                <a16:creationId xmlns:a16="http://schemas.microsoft.com/office/drawing/2014/main" id="{DC6C0E04-D023-4670-94F5-C7DF6AC13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240280"/>
            <a:ext cx="20116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000"/>
              <a:buFont typeface="Consolas"/>
              <a:buNone/>
            </a:pPr>
            <a:r>
              <a:rPr sz="1000" b="1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APPROVAL + PROOF</a:t>
            </a:r>
            <a:endParaRPr sz="1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6" name="Google Shape;106;p7">
            <a:extLst xmlns:a="http://schemas.openxmlformats.org/drawingml/2006/main">
              <a:ext uri="{FF2B5EF4-FFF2-40B4-BE49-F238E27FC236}">
                <a16:creationId xmlns:a16="http://schemas.microsoft.com/office/drawing/2014/main" id="{F6E9E4F2-57A4-4FAB-B0F2-3A3B8EE6F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697480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Human gate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7" name="Google Shape;107;p7">
            <a:extLst xmlns:a="http://schemas.openxmlformats.org/drawingml/2006/main">
              <a:ext uri="{FF2B5EF4-FFF2-40B4-BE49-F238E27FC236}">
                <a16:creationId xmlns:a16="http://schemas.microsoft.com/office/drawing/2014/main" id="{3031252F-C35B-4BC1-A924-7ED464899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008376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Execution evidence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8" name="Google Shape;108;p7">
            <a:extLst xmlns:a="http://schemas.openxmlformats.org/drawingml/2006/main">
              <a:ext uri="{FF2B5EF4-FFF2-40B4-BE49-F238E27FC236}">
                <a16:creationId xmlns:a16="http://schemas.microsoft.com/office/drawing/2014/main" id="{D0C9AE17-6B23-4533-848F-A190FC451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319272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Remaining risk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9" name="Google Shape;109;p7">
            <a:extLst xmlns:a="http://schemas.openxmlformats.org/drawingml/2006/main">
              <a:ext uri="{FF2B5EF4-FFF2-40B4-BE49-F238E27FC236}">
                <a16:creationId xmlns:a16="http://schemas.microsoft.com/office/drawing/2014/main" id="{D61B3C5D-CF66-43F0-8C36-25CDD4FE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630168"/>
            <a:ext cx="219456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Durable learning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0" name="Google Shape;110;p7">
            <a:extLst xmlns:a="http://schemas.openxmlformats.org/drawingml/2006/main">
              <a:ext uri="{FF2B5EF4-FFF2-40B4-BE49-F238E27FC236}">
                <a16:creationId xmlns:a16="http://schemas.microsoft.com/office/drawing/2014/main" id="{3CE00B5F-B1BD-4380-8770-F3BE6A90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1" name="Google Shape;111;p7">
            <a:extLst xmlns:a="http://schemas.openxmlformats.org/drawingml/2006/main">
              <a:ext uri="{FF2B5EF4-FFF2-40B4-BE49-F238E27FC236}">
                <a16:creationId xmlns:a16="http://schemas.microsoft.com/office/drawing/2014/main" id="{A9ED79D7-F73A-4A1E-B2C6-0DC923C77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07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837347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9" name="Google Shape;139;p9">
            <a:extLst xmlns:a="http://schemas.openxmlformats.org/drawingml/2006/main">
              <a:ext uri="{FF2B5EF4-FFF2-40B4-BE49-F238E27FC236}">
                <a16:creationId xmlns:a16="http://schemas.microsoft.com/office/drawing/2014/main" id="{4D4A2DC0-77A7-4248-92AC-DAAB6ADF7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07  /  SOCRATIC LOOP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0" name="Google Shape;140;p9">
            <a:extLst xmlns:a="http://schemas.openxmlformats.org/drawingml/2006/main">
              <a:ext uri="{FF2B5EF4-FFF2-40B4-BE49-F238E27FC236}">
                <a16:creationId xmlns:a16="http://schemas.microsoft.com/office/drawing/2014/main" id="{06B0A1D6-9D2A-4A71-97C6-E8A48E80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777240"/>
            <a:ext cx="84124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3800"/>
              <a:buFont typeface="Georgia"/>
              <a:buNone/>
            </a:pPr>
            <a:r>
              <a:rPr sz="3800" b="0" i="1" u="none" cap="none">
                <a:solidFill>
                  <a:srgbClr val="1A1A1F"/>
                </a:solidFill>
                <a:latin typeface="Georgia"/>
                <a:ea typeface="Georgia"/>
                <a:cs typeface="Georgia"/>
              </a:rPr>
              <a:t>The core loop is Socratic.</a:t>
            </a:r>
            <a:endParaRPr sz="3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0" name="Google Shape;150;p9">
            <a:extLst xmlns:a="http://schemas.openxmlformats.org/drawingml/2006/main">
              <a:ext uri="{FF2B5EF4-FFF2-40B4-BE49-F238E27FC236}">
                <a16:creationId xmlns:a16="http://schemas.microsoft.com/office/drawing/2014/main" id="{2B3716DB-4FF3-41C5-91E7-29E5E296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89120"/>
            <a:ext cx="128016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39"/>
          </a:solidFill>
          <a:ln xmlns:a="http://schemas.openxmlformats.org/drawingml/2006/main" w="12700" cmpd="sng">
            <a:solidFill>
              <a:srgbClr val="FF5C39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">
            <a:extLst xmlns:a="http://schemas.openxmlformats.org/drawingml/2006/main">
              <a:ext uri="{FF2B5EF4-FFF2-40B4-BE49-F238E27FC236}">
                <a16:creationId xmlns:a16="http://schemas.microsoft.com/office/drawing/2014/main" id="{2D400D66-BEB5-4860-840B-6C49D1EA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89120"/>
            <a:ext cx="12801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CHALLENGE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2" name="Google Shape;152;p9">
            <a:extLst xmlns:a="http://schemas.openxmlformats.org/drawingml/2006/main">
              <a:ext uri="{FF2B5EF4-FFF2-40B4-BE49-F238E27FC236}">
                <a16:creationId xmlns:a16="http://schemas.microsoft.com/office/drawing/2014/main" id="{910F8A5B-1786-49E1-8D50-8DE07318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3" name="Google Shape;153;p9">
            <a:extLst xmlns:a="http://schemas.openxmlformats.org/drawingml/2006/main">
              <a:ext uri="{FF2B5EF4-FFF2-40B4-BE49-F238E27FC236}">
                <a16:creationId xmlns:a16="http://schemas.microsoft.com/office/drawing/2014/main" id="{00DBAE41-9E24-468E-B8BB-90955149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08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bfdef78b8d4336"/>
          <a:srcRect xmlns:a="http://schemas.openxmlformats.org/drawingml/2006/main" l="17170" t="0" r="1717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0" y="2194560"/>
            <a:ext cx="2560320" cy="2194560"/>
          </a:xfrm>
          <a:prstGeom xmlns:a="http://schemas.openxmlformats.org/drawingml/2006/main" prst="rect">
            <a:avLst/>
          </a:prstGeom>
        </p:spPr>
      </p:pic>
      <p:sp>
        <p:nvSpPr>
          <p:cNvPr id="155" name="socratic-propose">
            <a:extLst xmlns:a="http://schemas.openxmlformats.org/drawingml/2006/main">
              <a:ext uri="{FF2B5EF4-FFF2-40B4-BE49-F238E27FC236}">
                <a16:creationId xmlns:a16="http://schemas.microsoft.com/office/drawing/2014/main" id="{49CB5697-5145-4715-AF8F-A30E1BFCB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362200"/>
            <a:ext cx="1257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 w="12668">
            <a:solidFill>
              <a:srgbClr val="1A1A1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A1A1F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PROPOSE</a:t>
            </a:r>
          </a:p>
        </p:txBody>
      </p:sp>
      <p:sp>
        <p:nvSpPr>
          <p:cNvPr id="156" name="socratic-challenge">
            <a:extLst xmlns:a="http://schemas.openxmlformats.org/drawingml/2006/main">
              <a:ext uri="{FF2B5EF4-FFF2-40B4-BE49-F238E27FC236}">
                <a16:creationId xmlns:a16="http://schemas.microsoft.com/office/drawing/2014/main" id="{51408ABD-9C4E-4558-8A5A-BB9D603D4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362200"/>
            <a:ext cx="1257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39"/>
          </a:solidFill>
          <a:ln xmlns:a="http://schemas.openxmlformats.org/drawingml/2006/main" w="12668">
            <a:solidFill>
              <a:srgbClr val="FF5C3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AFAF7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CHALLENGE</a:t>
            </a:r>
          </a:p>
        </p:txBody>
      </p:sp>
      <p:sp>
        <p:nvSpPr>
          <p:cNvPr id="157" name="socratic-revise">
            <a:extLst xmlns:a="http://schemas.openxmlformats.org/drawingml/2006/main">
              <a:ext uri="{FF2B5EF4-FFF2-40B4-BE49-F238E27FC236}">
                <a16:creationId xmlns:a16="http://schemas.microsoft.com/office/drawing/2014/main" id="{F7B6BAC1-11C9-4ADB-B9B4-4458EAD4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362200"/>
            <a:ext cx="1257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 w="12668">
            <a:solidFill>
              <a:srgbClr val="1A1A1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A1A1F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REVISE</a:t>
            </a:r>
          </a:p>
        </p:txBody>
      </p:sp>
      <p:sp>
        <p:nvSpPr>
          <p:cNvPr id="158" name="socratic-human">
            <a:extLst xmlns:a="http://schemas.openxmlformats.org/drawingml/2006/main">
              <a:ext uri="{FF2B5EF4-FFF2-40B4-BE49-F238E27FC236}">
                <a16:creationId xmlns:a16="http://schemas.microsoft.com/office/drawing/2014/main" id="{4D487B94-0F11-4498-904F-424EA8376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581400"/>
            <a:ext cx="21717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AF7"/>
          </a:solidFill>
          <a:ln xmlns:a="http://schemas.openxmlformats.org/drawingml/2006/main" w="12668">
            <a:solidFill>
              <a:srgbClr val="1A1A1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A1A1F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HUMAN CHECKPOINT</a:t>
            </a:r>
          </a:p>
          <a:p xmlns:a="http://schemas.openxmlformats.org/drawingml/2006/main">
            <a:pPr algn="ctr">
              <a:defRPr sz="1050" b="1">
                <a:solidFill>
                  <a:srgbClr val="1A1A1F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approve or redirect</a:t>
            </a:r>
          </a:p>
        </p:txBody>
      </p:sp>
      <p:cxnSp>
        <p:nvCxnSpPr>
          <p:cNvPr id="175" name=""/>
          <p:cNvCxnSpPr>
            <a:stCxn xmlns:a="http://schemas.openxmlformats.org/drawingml/2006/main" id="155" idx="3"/>
            <a:endCxn xmlns:a="http://schemas.openxmlformats.org/drawingml/2006/main" id="156" idx="1"/>
          </p:cNvCxnSpPr>
          <p:nvPr/>
        </p:nvCxnSpPr>
        <p:spPr>
          <a:xfrm xmlns:a="http://schemas.openxmlformats.org/drawingml/2006/main">
            <a:off x="1623060" y="2638425"/>
            <a:ext cx="45339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A1A1F"/>
            </a:solidFill>
            <a:prstDash val="solid"/>
            <a:tailEnd type="arrow" w="sm" len="sm"/>
          </a:ln>
        </p:spPr>
      </p:cxnSp>
      <p:cxnSp>
        <p:nvCxnSpPr>
          <p:cNvPr id="176" name=""/>
          <p:cNvCxnSpPr>
            <a:stCxn xmlns:a="http://schemas.openxmlformats.org/drawingml/2006/main" id="156" idx="3"/>
            <a:endCxn xmlns:a="http://schemas.openxmlformats.org/drawingml/2006/main" id="157" idx="1"/>
          </p:cNvCxnSpPr>
          <p:nvPr/>
        </p:nvCxnSpPr>
        <p:spPr>
          <a:xfrm xmlns:a="http://schemas.openxmlformats.org/drawingml/2006/main">
            <a:off x="3333750" y="26384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A1A1F"/>
            </a:solidFill>
            <a:prstDash val="solid"/>
            <a:tailEnd type="arrow" w="sm" len="sm"/>
          </a:ln>
        </p:spPr>
      </p:cxnSp>
      <p:cxnSp>
        <p:nvCxnSpPr>
          <p:cNvPr id="177" name=""/>
          <p:cNvCxnSpPr>
            <a:stCxn xmlns:a="http://schemas.openxmlformats.org/drawingml/2006/main" id="157" idx="2"/>
            <a:endCxn xmlns:a="http://schemas.openxmlformats.org/drawingml/2006/main" id="156" idx="2"/>
          </p:cNvCxnSpPr>
          <p:nvPr/>
        </p:nvCxnSpPr>
        <p:spPr>
          <a:xfrm xmlns:a="http://schemas.openxmlformats.org/drawingml/2006/main" flipH="1">
            <a:off x="2705100" y="2914650"/>
            <a:ext cx="1714500" cy="228600"/>
          </a:xfrm>
          <a:prstGeom xmlns:a="http://schemas.openxmlformats.org/drawingml/2006/main" prst="bentConnector4">
            <a:avLst/>
          </a:prstGeom>
          <a:ln xmlns:a="http://schemas.openxmlformats.org/drawingml/2006/main" w="19050">
            <a:solidFill>
              <a:srgbClr val="FF5C39"/>
            </a:solidFill>
            <a:prstDash val="dash"/>
            <a:tailEnd type="arrow" w="sm" len="sm"/>
          </a:ln>
        </p:spPr>
      </p:cxnSp>
      <p:cxnSp>
        <p:nvCxnSpPr>
          <p:cNvPr id="178" name=""/>
          <p:cNvCxnSpPr>
            <a:stCxn xmlns:a="http://schemas.openxmlformats.org/drawingml/2006/main" id="157" idx="2"/>
            <a:endCxn xmlns:a="http://schemas.openxmlformats.org/drawingml/2006/main" id="158" idx="0"/>
          </p:cNvCxnSpPr>
          <p:nvPr/>
        </p:nvCxnSpPr>
        <p:spPr>
          <a:xfrm xmlns:a="http://schemas.openxmlformats.org/drawingml/2006/main">
            <a:off x="4419600" y="2914650"/>
            <a:ext cx="0" cy="666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A1A1F"/>
            </a:solidFill>
            <a:prstDash val="solid"/>
            <a:tailEnd type="arrow" w="sm" len="sm"/>
          </a:ln>
        </p:spPr>
      </p:cxnSp>
      <p:sp>
        <p:nvSpPr>
          <p:cNvPr id="163" name="socratic-criteria">
            <a:extLst xmlns:a="http://schemas.openxmlformats.org/drawingml/2006/main">
              <a:ext uri="{FF2B5EF4-FFF2-40B4-BE49-F238E27FC236}">
                <a16:creationId xmlns:a16="http://schemas.microsoft.com/office/drawing/2014/main" id="{46082EC3-5C9A-4619-A2D6-8EAF1F258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848100"/>
            <a:ext cx="2705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6B73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criteria + evidence keep the loop honest</a:t>
            </a:r>
          </a:p>
        </p:txBody>
      </p:sp>
    </p:spTree>
    <p:extLst>
      <p:ext uri="{BB962C8B-B14F-4D97-AF65-F5344CB8AC3E}">
        <p14:creationId xmlns:p14="http://schemas.microsoft.com/office/powerpoint/2010/main" val="14791859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F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Google Shape;54;p5">
            <a:extLst xmlns:a="http://schemas.openxmlformats.org/drawingml/2006/main">
              <a:ext uri="{FF2B5EF4-FFF2-40B4-BE49-F238E27FC236}">
                <a16:creationId xmlns:a16="http://schemas.microsoft.com/office/drawing/2014/main" id="{4DE29C2F-2790-4566-9284-819FC5999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08  /  HUMAN GATE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5" name="Google Shape;55;p5">
            <a:extLst xmlns:a="http://schemas.openxmlformats.org/drawingml/2006/main">
              <a:ext uri="{FF2B5EF4-FFF2-40B4-BE49-F238E27FC236}">
                <a16:creationId xmlns:a16="http://schemas.microsoft.com/office/drawing/2014/main" id="{D7B4F82F-AFA5-4E49-AAA7-9BBB4A5E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822960"/>
            <a:ext cx="1371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4000"/>
              <a:buFont typeface="Georgia"/>
              <a:buNone/>
            </a:pPr>
            <a:r>
              <a:rPr sz="14000" b="0" i="0" u="none" cap="none">
                <a:solidFill>
                  <a:srgbClr val="FF5C39"/>
                </a:solidFill>
                <a:latin typeface="Georgia"/>
                <a:ea typeface="Georgia"/>
                <a:cs typeface="Georgia"/>
              </a:rPr>
              <a:t>“</a:t>
            </a:r>
            <a:endParaRPr sz="14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6" name="Google Shape;56;p5">
            <a:extLst xmlns:a="http://schemas.openxmlformats.org/drawingml/2006/main">
              <a:ext uri="{FF2B5EF4-FFF2-40B4-BE49-F238E27FC236}">
                <a16:creationId xmlns:a16="http://schemas.microsoft.com/office/drawing/2014/main" id="{22D5573E-9A99-4AD6-8C4F-8D1236D4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691640"/>
            <a:ext cx="841248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4200"/>
              <a:buFont typeface="Georgia"/>
              <a:buNone/>
            </a:pPr>
            <a:r>
              <a:rPr sz="4200" b="0" i="1" u="none" cap="none">
                <a:solidFill>
                  <a:srgbClr val="FAFAF7"/>
                </a:solidFill>
                <a:latin typeface="Georgia"/>
                <a:ea typeface="Georgia"/>
                <a:cs typeface="Georgia"/>
              </a:rPr>
              <a:t>The agent can propose.</a:t>
            </a:r>
            <a:endParaRPr sz="4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7" name="Google Shape;57;p5">
            <a:extLst xmlns:a="http://schemas.openxmlformats.org/drawingml/2006/main">
              <a:ext uri="{FF2B5EF4-FFF2-40B4-BE49-F238E27FC236}">
                <a16:creationId xmlns:a16="http://schemas.microsoft.com/office/drawing/2014/main" id="{30CF7035-C27C-44BE-A3B6-E53173423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468880"/>
            <a:ext cx="841248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4200"/>
              <a:buFont typeface="Georgia"/>
              <a:buNone/>
            </a:pPr>
            <a:r>
              <a:rPr sz="4200" b="0" i="1" u="none" cap="none">
                <a:solidFill>
                  <a:srgbClr val="FAFAF7"/>
                </a:solidFill>
                <a:latin typeface="Georgia"/>
                <a:ea typeface="Georgia"/>
                <a:cs typeface="Georgia"/>
              </a:rPr>
              <a:t>It cannot own</a:t>
            </a:r>
            <a:endParaRPr sz="4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8" name="Google Shape;58;p5">
            <a:extLst xmlns:a="http://schemas.openxmlformats.org/drawingml/2006/main">
              <a:ext uri="{FF2B5EF4-FFF2-40B4-BE49-F238E27FC236}">
                <a16:creationId xmlns:a16="http://schemas.microsoft.com/office/drawing/2014/main" id="{9C419AEF-81CA-4797-89D1-FBCF28AD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246120"/>
            <a:ext cx="841248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4200"/>
              <a:buFont typeface="Georgia"/>
              <a:buNone/>
            </a:pPr>
            <a:r>
              <a:rPr sz="4200" b="0" i="1" u="none" cap="none">
                <a:solidFill>
                  <a:srgbClr val="FF5C39"/>
                </a:solidFill>
                <a:latin typeface="Georgia"/>
                <a:ea typeface="Georgia"/>
                <a:cs typeface="Georgia"/>
              </a:rPr>
              <a:t>the decision.</a:t>
            </a:r>
            <a:endParaRPr sz="4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9" name="Google Shape;59;p5">
            <a:extLst xmlns:a="http://schemas.openxmlformats.org/drawingml/2006/main">
              <a:ext uri="{FF2B5EF4-FFF2-40B4-BE49-F238E27FC236}">
                <a16:creationId xmlns:a16="http://schemas.microsoft.com/office/drawing/2014/main" id="{888E591B-8899-45BA-9885-07D03E80E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251960"/>
            <a:ext cx="841248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300"/>
              <a:buFont typeface="Consolas"/>
              <a:buNone/>
            </a:pPr>
            <a:r>
              <a:rPr sz="13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(outcome • risk • approval • accountability)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0" name="Google Shape;60;p5">
            <a:extLst xmlns:a="http://schemas.openxmlformats.org/drawingml/2006/main">
              <a:ext uri="{FF2B5EF4-FFF2-40B4-BE49-F238E27FC236}">
                <a16:creationId xmlns:a16="http://schemas.microsoft.com/office/drawing/2014/main" id="{A348EB23-2B5B-4807-B543-3781B07BC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1" name="Google Shape;61;p5">
            <a:extLst xmlns:a="http://schemas.openxmlformats.org/drawingml/2006/main">
              <a:ext uri="{FF2B5EF4-FFF2-40B4-BE49-F238E27FC236}">
                <a16:creationId xmlns:a16="http://schemas.microsoft.com/office/drawing/2014/main" id="{AEA5B1A1-03A0-45BA-AF03-84FBC055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09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826009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9" name="Google Shape;139;p9">
            <a:extLst xmlns:a="http://schemas.openxmlformats.org/drawingml/2006/main">
              <a:ext uri="{FF2B5EF4-FFF2-40B4-BE49-F238E27FC236}">
                <a16:creationId xmlns:a16="http://schemas.microsoft.com/office/drawing/2014/main" id="{4D4A2DC0-77A7-4248-92AC-DAAB6ADF7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09  /  ORCHESTRATE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0" name="Google Shape;140;p9">
            <a:extLst xmlns:a="http://schemas.openxmlformats.org/drawingml/2006/main">
              <a:ext uri="{FF2B5EF4-FFF2-40B4-BE49-F238E27FC236}">
                <a16:creationId xmlns:a16="http://schemas.microsoft.com/office/drawing/2014/main" id="{06B0A1D6-9D2A-4A71-97C6-E8A48E80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777240"/>
            <a:ext cx="84124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3800"/>
              <a:buFont typeface="Georgia"/>
              <a:buNone/>
            </a:pPr>
            <a:r>
              <a:rPr sz="3800" b="0" i="1" u="none" cap="none">
                <a:solidFill>
                  <a:srgbClr val="1A1A1F"/>
                </a:solidFill>
                <a:latin typeface="Georgia"/>
                <a:ea typeface="Georgia"/>
                <a:cs typeface="Georgia"/>
              </a:rPr>
              <a:t>Delegate the work. Keep the decision frame.</a:t>
            </a:r>
            <a:endParaRPr sz="3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1" name="Google Shape;141;p9">
            <a:extLst xmlns:a="http://schemas.openxmlformats.org/drawingml/2006/main">
              <a:ext uri="{FF2B5EF4-FFF2-40B4-BE49-F238E27FC236}">
                <a16:creationId xmlns:a16="http://schemas.microsoft.com/office/drawing/2014/main" id="{6E2EC17A-DC40-42B1-975E-06A891E9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01168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AGENT STRENGTHS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2" name="Google Shape;142;p9">
            <a:extLst xmlns:a="http://schemas.openxmlformats.org/drawingml/2006/main">
              <a:ext uri="{FF2B5EF4-FFF2-40B4-BE49-F238E27FC236}">
                <a16:creationId xmlns:a16="http://schemas.microsoft.com/office/drawing/2014/main" id="{C3EFD4B5-F5BD-4712-B7F2-8BABED40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46888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Explore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3" name="Google Shape;143;p9">
            <a:extLst xmlns:a="http://schemas.openxmlformats.org/drawingml/2006/main">
              <a:ext uri="{FF2B5EF4-FFF2-40B4-BE49-F238E27FC236}">
                <a16:creationId xmlns:a16="http://schemas.microsoft.com/office/drawing/2014/main" id="{D41E90A1-C64B-4616-BBC0-5037DE2E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852928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Draft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4" name="Google Shape;144;p9">
            <a:extLst xmlns:a="http://schemas.openxmlformats.org/drawingml/2006/main">
              <a:ext uri="{FF2B5EF4-FFF2-40B4-BE49-F238E27FC236}">
                <a16:creationId xmlns:a16="http://schemas.microsoft.com/office/drawing/2014/main" id="{0543F061-5F6F-4D55-98E4-57DE12657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236976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Implement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5" name="Google Shape;145;p9">
            <a:extLst xmlns:a="http://schemas.openxmlformats.org/drawingml/2006/main">
              <a:ext uri="{FF2B5EF4-FFF2-40B4-BE49-F238E27FC236}">
                <a16:creationId xmlns:a16="http://schemas.microsoft.com/office/drawing/2014/main" id="{B7ECA970-5DCC-4E83-92E0-E10CCD9B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21024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Compare + recover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0" name="Google Shape;150;p9">
            <a:extLst xmlns:a="http://schemas.openxmlformats.org/drawingml/2006/main">
              <a:ext uri="{FF2B5EF4-FFF2-40B4-BE49-F238E27FC236}">
                <a16:creationId xmlns:a16="http://schemas.microsoft.com/office/drawing/2014/main" id="{2B3716DB-4FF3-41C5-91E7-29E5E296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89120"/>
            <a:ext cx="128016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39"/>
          </a:solidFill>
          <a:ln xmlns:a="http://schemas.openxmlformats.org/drawingml/2006/main" w="12700" cmpd="sng">
            <a:solidFill>
              <a:srgbClr val="FF5C39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">
            <a:extLst xmlns:a="http://schemas.openxmlformats.org/drawingml/2006/main">
              <a:ext uri="{FF2B5EF4-FFF2-40B4-BE49-F238E27FC236}">
                <a16:creationId xmlns:a16="http://schemas.microsoft.com/office/drawing/2014/main" id="{2D400D66-BEB5-4860-840B-6C49D1EA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89120"/>
            <a:ext cx="12801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SHOW THE WORK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2" name="Google Shape;152;p9">
            <a:extLst xmlns:a="http://schemas.openxmlformats.org/drawingml/2006/main">
              <a:ext uri="{FF2B5EF4-FFF2-40B4-BE49-F238E27FC236}">
                <a16:creationId xmlns:a16="http://schemas.microsoft.com/office/drawing/2014/main" id="{910F8A5B-1786-49E1-8D50-8DE07318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3" name="Google Shape;153;p9">
            <a:extLst xmlns:a="http://schemas.openxmlformats.org/drawingml/2006/main">
              <a:ext uri="{FF2B5EF4-FFF2-40B4-BE49-F238E27FC236}">
                <a16:creationId xmlns:a16="http://schemas.microsoft.com/office/drawing/2014/main" id="{00DBAE41-9E24-468E-B8BB-90955149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10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4" name="human-ownership-frame">
            <a:extLst xmlns:a="http://schemas.openxmlformats.org/drawingml/2006/main">
              <a:ext uri="{FF2B5EF4-FFF2-40B4-BE49-F238E27FC236}">
                <a16:creationId xmlns:a16="http://schemas.microsoft.com/office/drawing/2014/main" id="{F25EB299-BE26-4E5A-9971-1521A670E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194560"/>
            <a:ext cx="256032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012"/>
          </a:solidFill>
          <a:ln xmlns:a="http://schemas.openxmlformats.org/drawingml/2006/main" w="12668">
            <a:solidFill>
              <a:srgbClr val="101012"/>
            </a:solidFill>
            <a:prstDash val="solid"/>
          </a:ln>
        </p:spPr>
      </p:sp>
      <p:sp>
        <p:nvSpPr>
          <p:cNvPr id="155" name="human-ownership-label">
            <a:extLst xmlns:a="http://schemas.openxmlformats.org/drawingml/2006/main">
              <a:ext uri="{FF2B5EF4-FFF2-40B4-BE49-F238E27FC236}">
                <a16:creationId xmlns:a16="http://schemas.microsoft.com/office/drawing/2014/main" id="{464E9B7C-9D35-465F-B0A4-7073D3DA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4003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5C39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HUMAN OWNS</a:t>
            </a:r>
          </a:p>
        </p:txBody>
      </p:sp>
      <p:sp>
        <p:nvSpPr>
          <p:cNvPr id="156" name="human-ownership-list">
            <a:extLst xmlns:a="http://schemas.openxmlformats.org/drawingml/2006/main">
              <a:ext uri="{FF2B5EF4-FFF2-40B4-BE49-F238E27FC236}">
                <a16:creationId xmlns:a16="http://schemas.microsoft.com/office/drawing/2014/main" id="{5EDCE874-C04F-4559-9870-9735A262D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00350"/>
            <a:ext cx="2095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AFAF7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Intent</a:t>
            </a:r>
          </a:p>
          <a:p xmlns:a="http://schemas.openxmlformats.org/drawingml/2006/main">
            <a:pPr algn="l">
              <a:defRPr sz="1650" b="0">
                <a:solidFill>
                  <a:srgbClr val="FAFAF7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Risk</a:t>
            </a:r>
          </a:p>
          <a:p xmlns:a="http://schemas.openxmlformats.org/drawingml/2006/main">
            <a:pPr algn="l">
              <a:defRPr sz="1650" b="0">
                <a:solidFill>
                  <a:srgbClr val="FAFAF7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Approval</a:t>
            </a:r>
          </a:p>
          <a:p xmlns:a="http://schemas.openxmlformats.org/drawingml/2006/main">
            <a:pPr algn="l">
              <a:defRPr sz="1650" b="0">
                <a:solidFill>
                  <a:srgbClr val="FAFAF7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Outcome</a:t>
            </a:r>
          </a:p>
        </p:txBody>
      </p:sp>
    </p:spTree>
    <p:extLst>
      <p:ext uri="{BB962C8B-B14F-4D97-AF65-F5344CB8AC3E}">
        <p14:creationId xmlns:p14="http://schemas.microsoft.com/office/powerpoint/2010/main" val="147918591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F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7" name="Google Shape;117;p8">
            <a:extLst xmlns:a="http://schemas.openxmlformats.org/drawingml/2006/main">
              <a:ext uri="{FF2B5EF4-FFF2-40B4-BE49-F238E27FC236}">
                <a16:creationId xmlns:a16="http://schemas.microsoft.com/office/drawing/2014/main" id="{16C5A624-7BF4-42C5-813B-0517946D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10  /  EVALUATE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8" name="Google Shape;118;p8">
            <a:extLst xmlns:a="http://schemas.openxmlformats.org/drawingml/2006/main">
              <a:ext uri="{FF2B5EF4-FFF2-40B4-BE49-F238E27FC236}">
                <a16:creationId xmlns:a16="http://schemas.microsoft.com/office/drawing/2014/main" id="{6C0109E1-BB52-4B5C-B53D-9F6A6CC0C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868680"/>
            <a:ext cx="84124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3800"/>
              <a:buFont typeface="Georgia"/>
              <a:buNone/>
            </a:pPr>
            <a:r>
              <a:rPr sz="3800" b="0" i="1" u="none" cap="none">
                <a:solidFill>
                  <a:srgbClr val="FAFAF7"/>
                </a:solidFill>
                <a:latin typeface="Georgia"/>
                <a:ea typeface="Georgia"/>
                <a:cs typeface="Georgia"/>
              </a:rPr>
              <a:t>Check in on claims, not lines.</a:t>
            </a:r>
            <a:endParaRPr sz="3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9" name="Google Shape;119;p8">
            <a:extLst xmlns:a="http://schemas.openxmlformats.org/drawingml/2006/main">
              <a:ext uri="{FF2B5EF4-FFF2-40B4-BE49-F238E27FC236}">
                <a16:creationId xmlns:a16="http://schemas.microsoft.com/office/drawing/2014/main" id="{B3FA63AC-E144-49AA-B5EC-A8529B782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194560"/>
            <a:ext cx="265176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400"/>
              <a:buFont typeface="Consolas"/>
              <a:buNone/>
            </a:pPr>
            <a:r>
              <a:rPr sz="14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01</a:t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cxnSp>
        <p:nvCxnSpPr>
          <p:cNvPr id="173" name="Google Shape;120;p8"/>
          <p:cNvCxnSpPr/>
          <p:nvPr/>
        </p:nvCxnSpPr>
        <p:spPr>
          <a:xfrm xmlns:a="http://schemas.openxmlformats.org/drawingml/2006/main">
            <a:off x="365760" y="2606040"/>
            <a:ext cx="265176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5C3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1" name="Google Shape;121;p8">
            <a:extLst xmlns:a="http://schemas.openxmlformats.org/drawingml/2006/main">
              <a:ext uri="{FF2B5EF4-FFF2-40B4-BE49-F238E27FC236}">
                <a16:creationId xmlns:a16="http://schemas.microsoft.com/office/drawing/2014/main" id="{705C1182-FFE8-4E98-90C6-08B33B458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43200"/>
            <a:ext cx="265176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2200"/>
              <a:buFont typeface="Impact"/>
              <a:buNone/>
            </a:pPr>
            <a:r>
              <a:rPr sz="2200" b="1" i="0" u="none" cap="none">
                <a:solidFill>
                  <a:srgbClr val="FAFAF7"/>
                </a:solidFill>
                <a:latin typeface="Impact"/>
                <a:ea typeface="Impact"/>
                <a:cs typeface="Impact"/>
              </a:rPr>
              <a:t>OUTCOME</a:t>
            </a:r>
            <a:endParaRPr sz="2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2" name="Google Shape;122;p8">
            <a:extLst xmlns:a="http://schemas.openxmlformats.org/drawingml/2006/main">
              <a:ext uri="{FF2B5EF4-FFF2-40B4-BE49-F238E27FC236}">
                <a16:creationId xmlns:a16="http://schemas.microsoft.com/office/drawing/2014/main" id="{67B45578-D485-453B-B6AD-B95B56FB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337560"/>
            <a:ext cx="265176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6B6B73"/>
                </a:solidFill>
                <a:latin typeface="Calibri"/>
                <a:ea typeface="Calibri"/>
                <a:cs typeface="Calibri"/>
              </a:rPr>
              <a:t>Did it solve the agreed problem?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3" name="Google Shape;123;p8">
            <a:extLst xmlns:a="http://schemas.openxmlformats.org/drawingml/2006/main">
              <a:ext uri="{FF2B5EF4-FFF2-40B4-BE49-F238E27FC236}">
                <a16:creationId xmlns:a16="http://schemas.microsoft.com/office/drawing/2014/main" id="{AB345765-781D-4F6C-AF25-7891B077B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2194560"/>
            <a:ext cx="265176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400"/>
              <a:buFont typeface="Consolas"/>
              <a:buNone/>
            </a:pPr>
            <a:r>
              <a:rPr sz="14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02</a:t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cxnSp>
        <p:nvCxnSpPr>
          <p:cNvPr id="177" name="Google Shape;124;p8"/>
          <p:cNvCxnSpPr/>
          <p:nvPr/>
        </p:nvCxnSpPr>
        <p:spPr>
          <a:xfrm xmlns:a="http://schemas.openxmlformats.org/drawingml/2006/main">
            <a:off x="3246120" y="2606040"/>
            <a:ext cx="265176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5C3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5" name="Google Shape;125;p8">
            <a:extLst xmlns:a="http://schemas.openxmlformats.org/drawingml/2006/main">
              <a:ext uri="{FF2B5EF4-FFF2-40B4-BE49-F238E27FC236}">
                <a16:creationId xmlns:a16="http://schemas.microsoft.com/office/drawing/2014/main" id="{7E9CD5D2-6DB9-4B9A-AB1C-8D1B952F5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2743200"/>
            <a:ext cx="265176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2200"/>
              <a:buFont typeface="Impact"/>
              <a:buNone/>
            </a:pPr>
            <a:r>
              <a:rPr sz="2200" b="1" i="0" u="none" cap="none">
                <a:solidFill>
                  <a:srgbClr val="FAFAF7"/>
                </a:solidFill>
                <a:latin typeface="Impact"/>
                <a:ea typeface="Impact"/>
                <a:cs typeface="Impact"/>
              </a:rPr>
              <a:t>BOUNDARIES</a:t>
            </a:r>
            <a:endParaRPr sz="2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6" name="Google Shape;126;p8">
            <a:extLst xmlns:a="http://schemas.openxmlformats.org/drawingml/2006/main">
              <a:ext uri="{FF2B5EF4-FFF2-40B4-BE49-F238E27FC236}">
                <a16:creationId xmlns:a16="http://schemas.microsoft.com/office/drawing/2014/main" id="{810DC13D-77A7-4534-8A68-FEC905A15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337560"/>
            <a:ext cx="265176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6B6B73"/>
                </a:solidFill>
                <a:latin typeface="Calibri"/>
                <a:ea typeface="Calibri"/>
                <a:cs typeface="Calibri"/>
              </a:rPr>
              <a:t>Did any contract or invariant break?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7" name="Google Shape;127;p8">
            <a:extLst xmlns:a="http://schemas.openxmlformats.org/drawingml/2006/main">
              <a:ext uri="{FF2B5EF4-FFF2-40B4-BE49-F238E27FC236}">
                <a16:creationId xmlns:a16="http://schemas.microsoft.com/office/drawing/2014/main" id="{AFECC842-8A16-4625-86DF-BF85C4BA4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194560"/>
            <a:ext cx="265176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400"/>
              <a:buFont typeface="Consolas"/>
              <a:buNone/>
            </a:pPr>
            <a:r>
              <a:rPr sz="14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03</a:t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cxnSp>
        <p:nvCxnSpPr>
          <p:cNvPr id="181" name="Google Shape;128;p8"/>
          <p:cNvCxnSpPr/>
          <p:nvPr/>
        </p:nvCxnSpPr>
        <p:spPr>
          <a:xfrm xmlns:a="http://schemas.openxmlformats.org/drawingml/2006/main">
            <a:off x="6126480" y="2606040"/>
            <a:ext cx="265176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 cap="flat">
            <a:solidFill>
              <a:srgbClr val="FF5C3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9" name="Google Shape;129;p8">
            <a:extLst xmlns:a="http://schemas.openxmlformats.org/drawingml/2006/main">
              <a:ext uri="{FF2B5EF4-FFF2-40B4-BE49-F238E27FC236}">
                <a16:creationId xmlns:a16="http://schemas.microsoft.com/office/drawing/2014/main" id="{368B3975-C646-41EF-9FCA-40C255D96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743200"/>
            <a:ext cx="265176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2200"/>
              <a:buFont typeface="Impact"/>
              <a:buNone/>
            </a:pPr>
            <a:r>
              <a:rPr sz="2200" b="1" i="0" u="none" cap="none">
                <a:solidFill>
                  <a:srgbClr val="FAFAF7"/>
                </a:solidFill>
                <a:latin typeface="Impact"/>
                <a:ea typeface="Impact"/>
                <a:cs typeface="Impact"/>
              </a:rPr>
              <a:t>REALITY</a:t>
            </a:r>
            <a:endParaRPr sz="2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0" name="Google Shape;130;p8">
            <a:extLst xmlns:a="http://schemas.openxmlformats.org/drawingml/2006/main">
              <a:ext uri="{FF2B5EF4-FFF2-40B4-BE49-F238E27FC236}">
                <a16:creationId xmlns:a16="http://schemas.microsoft.com/office/drawing/2014/main" id="{23F5E162-A67A-40BB-A51A-1E53C212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337560"/>
            <a:ext cx="265176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6B6B73"/>
                </a:solidFill>
                <a:latin typeface="Calibri"/>
                <a:ea typeface="Calibri"/>
                <a:cs typeface="Calibri"/>
              </a:rPr>
              <a:t>Do tests, runtime and user behaviour agree?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1" name="Google Shape;131;p8">
            <a:extLst xmlns:a="http://schemas.openxmlformats.org/drawingml/2006/main">
              <a:ext uri="{FF2B5EF4-FFF2-40B4-BE49-F238E27FC236}">
                <a16:creationId xmlns:a16="http://schemas.microsoft.com/office/drawing/2014/main" id="{33C5BB7C-87D4-4411-8F39-B938D8502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434840"/>
            <a:ext cx="841248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300"/>
              <a:buFont typeface="Consolas"/>
              <a:buNone/>
            </a:pPr>
            <a:r>
              <a:rPr sz="1300" b="0" i="1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“Grade what the agent produced, not the path it took.” — Anthropic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2" name="Google Shape;132;p8">
            <a:extLst xmlns:a="http://schemas.openxmlformats.org/drawingml/2006/main">
              <a:ext uri="{FF2B5EF4-FFF2-40B4-BE49-F238E27FC236}">
                <a16:creationId xmlns:a16="http://schemas.microsoft.com/office/drawing/2014/main" id="{83E5E42B-D6F4-470F-A447-17970133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3" name="Google Shape;133;p8">
            <a:extLst xmlns:a="http://schemas.openxmlformats.org/drawingml/2006/main">
              <a:ext uri="{FF2B5EF4-FFF2-40B4-BE49-F238E27FC236}">
                <a16:creationId xmlns:a16="http://schemas.microsoft.com/office/drawing/2014/main" id="{024429E6-0795-4212-BA01-953B5F094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11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948930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9" name="Google Shape;139;p9">
            <a:extLst xmlns:a="http://schemas.openxmlformats.org/drawingml/2006/main">
              <a:ext uri="{FF2B5EF4-FFF2-40B4-BE49-F238E27FC236}">
                <a16:creationId xmlns:a16="http://schemas.microsoft.com/office/drawing/2014/main" id="{4D4A2DC0-77A7-4248-92AC-DAAB6ADF7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11  /  CONTEXT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0" name="Google Shape;140;p9">
            <a:extLst xmlns:a="http://schemas.openxmlformats.org/drawingml/2006/main">
              <a:ext uri="{FF2B5EF4-FFF2-40B4-BE49-F238E27FC236}">
                <a16:creationId xmlns:a16="http://schemas.microsoft.com/office/drawing/2014/main" id="{06B0A1D6-9D2A-4A71-97C6-E8A48E80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777240"/>
            <a:ext cx="84124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3800"/>
              <a:buFont typeface="Georgia"/>
              <a:buNone/>
            </a:pPr>
            <a:r>
              <a:rPr sz="3800" b="0" i="1" u="none" cap="none">
                <a:solidFill>
                  <a:srgbClr val="1A1A1F"/>
                </a:solidFill>
                <a:latin typeface="Georgia"/>
                <a:ea typeface="Georgia"/>
                <a:cs typeface="Georgia"/>
              </a:rPr>
              <a:t>Love the context more than the code.</a:t>
            </a:r>
            <a:endParaRPr sz="3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1" name="Google Shape;141;p9">
            <a:extLst xmlns:a="http://schemas.openxmlformats.org/drawingml/2006/main">
              <a:ext uri="{FF2B5EF4-FFF2-40B4-BE49-F238E27FC236}">
                <a16:creationId xmlns:a16="http://schemas.microsoft.com/office/drawing/2014/main" id="{6E2EC17A-DC40-42B1-975E-06A891E9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01168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THE CONTEXT SPINE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2" name="Google Shape;142;p9">
            <a:extLst xmlns:a="http://schemas.openxmlformats.org/drawingml/2006/main">
              <a:ext uri="{FF2B5EF4-FFF2-40B4-BE49-F238E27FC236}">
                <a16:creationId xmlns:a16="http://schemas.microsoft.com/office/drawing/2014/main" id="{C3EFD4B5-F5BD-4712-B7F2-8BABED40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46888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Product + language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3" name="Google Shape;143;p9">
            <a:extLst xmlns:a="http://schemas.openxmlformats.org/drawingml/2006/main">
              <a:ext uri="{FF2B5EF4-FFF2-40B4-BE49-F238E27FC236}">
                <a16:creationId xmlns:a16="http://schemas.microsoft.com/office/drawing/2014/main" id="{D41E90A1-C64B-4616-BBC0-5037DE2E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852928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Architecture + seams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4" name="Google Shape;144;p9">
            <a:extLst xmlns:a="http://schemas.openxmlformats.org/drawingml/2006/main">
              <a:ext uri="{FF2B5EF4-FFF2-40B4-BE49-F238E27FC236}">
                <a16:creationId xmlns:a16="http://schemas.microsoft.com/office/drawing/2014/main" id="{0543F061-5F6F-4D55-98E4-57DE12657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236976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Invariants + evidence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5" name="Google Shape;145;p9">
            <a:extLst xmlns:a="http://schemas.openxmlformats.org/drawingml/2006/main">
              <a:ext uri="{FF2B5EF4-FFF2-40B4-BE49-F238E27FC236}">
                <a16:creationId xmlns:a16="http://schemas.microsoft.com/office/drawing/2014/main" id="{B7ECA970-5DCC-4E83-92E0-E10CCD9B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21024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Direction + deferrals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0" name="Google Shape;150;p9">
            <a:extLst xmlns:a="http://schemas.openxmlformats.org/drawingml/2006/main">
              <a:ext uri="{FF2B5EF4-FFF2-40B4-BE49-F238E27FC236}">
                <a16:creationId xmlns:a16="http://schemas.microsoft.com/office/drawing/2014/main" id="{2B3716DB-4FF3-41C5-91E7-29E5E296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89120"/>
            <a:ext cx="128016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39"/>
          </a:solidFill>
          <a:ln xmlns:a="http://schemas.openxmlformats.org/drawingml/2006/main" w="12700" cmpd="sng">
            <a:solidFill>
              <a:srgbClr val="FF5C39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">
            <a:extLst xmlns:a="http://schemas.openxmlformats.org/drawingml/2006/main">
              <a:ext uri="{FF2B5EF4-FFF2-40B4-BE49-F238E27FC236}">
                <a16:creationId xmlns:a16="http://schemas.microsoft.com/office/drawing/2014/main" id="{2D400D66-BEB5-4860-840B-6C49D1EA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89120"/>
            <a:ext cx="12801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GARDEN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2" name="Google Shape;152;p9">
            <a:extLst xmlns:a="http://schemas.openxmlformats.org/drawingml/2006/main">
              <a:ext uri="{FF2B5EF4-FFF2-40B4-BE49-F238E27FC236}">
                <a16:creationId xmlns:a16="http://schemas.microsoft.com/office/drawing/2014/main" id="{910F8A5B-1786-49E1-8D50-8DE07318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3" name="Google Shape;153;p9">
            <a:extLst xmlns:a="http://schemas.openxmlformats.org/drawingml/2006/main">
              <a:ext uri="{FF2B5EF4-FFF2-40B4-BE49-F238E27FC236}">
                <a16:creationId xmlns:a16="http://schemas.microsoft.com/office/drawing/2014/main" id="{00DBAE41-9E24-468E-B8BB-90955149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12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4286231516451a"/>
          <a:stretch xmlns:a="http://schemas.openxmlformats.org/drawingml/2006/main"/>
        </p:blipFill>
        <p:spPr>
          <a:xfrm xmlns:a="http://schemas.openxmlformats.org/drawingml/2006/main">
            <a:off x="6217920" y="2571367"/>
            <a:ext cx="2560320" cy="144094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918591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6">
            <a:extLst xmlns:a="http://schemas.openxmlformats.org/drawingml/2006/main">
              <a:ext uri="{FF2B5EF4-FFF2-40B4-BE49-F238E27FC236}">
                <a16:creationId xmlns:a16="http://schemas.microsoft.com/office/drawing/2014/main" id="{5920FDF9-8F4E-486B-A0E6-76A1633E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12  /  TWO MODES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8" name="Google Shape;68;p6">
            <a:extLst xmlns:a="http://schemas.openxmlformats.org/drawingml/2006/main">
              <a:ext uri="{FF2B5EF4-FFF2-40B4-BE49-F238E27FC236}">
                <a16:creationId xmlns:a16="http://schemas.microsoft.com/office/drawing/2014/main" id="{9EE91708-0FC8-4C29-8F76-3732BD2C2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777240"/>
            <a:ext cx="84124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4800"/>
              <a:buFont typeface="Georgia"/>
              <a:buNone/>
            </a:pPr>
            <a:r>
              <a:rPr sz="4800" b="0" i="1" u="none" cap="none">
                <a:solidFill>
                  <a:srgbClr val="1A1A1F"/>
                </a:solidFill>
                <a:latin typeface="Georgia"/>
                <a:ea typeface="Georgia"/>
                <a:cs typeface="Georgia"/>
              </a:rPr>
              <a:t>BUILD UP. STRENGTHEN ACROSS.</a:t>
            </a:r>
            <a:endParaRPr sz="4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9" name="Google Shape;69;p6">
            <a:extLst xmlns:a="http://schemas.openxmlformats.org/drawingml/2006/main">
              <a:ext uri="{FF2B5EF4-FFF2-40B4-BE49-F238E27FC236}">
                <a16:creationId xmlns:a16="http://schemas.microsoft.com/office/drawing/2014/main" id="{4EC88FD9-0113-4070-8ABB-F098A9177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1031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FEATURE SLICES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0" name="Google Shape;70;p6">
            <a:extLst xmlns:a="http://schemas.openxmlformats.org/drawingml/2006/main">
              <a:ext uri="{FF2B5EF4-FFF2-40B4-BE49-F238E27FC236}">
                <a16:creationId xmlns:a16="http://schemas.microsoft.com/office/drawing/2014/main" id="{9CD1E61B-C107-4621-99EB-013588D5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46888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400"/>
              <a:buFont typeface="Calibri"/>
              <a:buNone/>
            </a:pPr>
            <a:r>
              <a:rPr sz="14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Outcome</a:t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1" name="Google Shape;71;p6">
            <a:extLst xmlns:a="http://schemas.openxmlformats.org/drawingml/2006/main">
              <a:ext uri="{FF2B5EF4-FFF2-40B4-BE49-F238E27FC236}">
                <a16:creationId xmlns:a16="http://schemas.microsoft.com/office/drawing/2014/main" id="{CD9E92D5-00DF-45A6-8BB7-81F7D4122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779776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400"/>
              <a:buFont typeface="Calibri"/>
              <a:buNone/>
            </a:pPr>
            <a:r>
              <a:rPr sz="14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Flow</a:t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2" name="Google Shape;72;p6">
            <a:extLst xmlns:a="http://schemas.openxmlformats.org/drawingml/2006/main">
              <a:ext uri="{FF2B5EF4-FFF2-40B4-BE49-F238E27FC236}">
                <a16:creationId xmlns:a16="http://schemas.microsoft.com/office/drawing/2014/main" id="{1B5A9780-32F2-4275-AFB7-D84265096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090672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400"/>
              <a:buFont typeface="Calibri"/>
              <a:buNone/>
            </a:pPr>
            <a:r>
              <a:rPr sz="14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Behaviour</a:t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3" name="Google Shape;73;p6">
            <a:extLst xmlns:a="http://schemas.openxmlformats.org/drawingml/2006/main">
              <a:ext uri="{FF2B5EF4-FFF2-40B4-BE49-F238E27FC236}">
                <a16:creationId xmlns:a16="http://schemas.microsoft.com/office/drawing/2014/main" id="{522E238B-04B4-4157-AC3D-4CBDBFE8B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401568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400"/>
              <a:buFont typeface="Calibri"/>
              <a:buNone/>
            </a:pPr>
            <a:r>
              <a:rPr sz="14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Feedback</a:t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4" name="Google Shape;74;p6">
            <a:extLst xmlns:a="http://schemas.openxmlformats.org/drawingml/2006/main">
              <a:ext uri="{FF2B5EF4-FFF2-40B4-BE49-F238E27FC236}">
                <a16:creationId xmlns:a16="http://schemas.microsoft.com/office/drawing/2014/main" id="{D3A4F75A-C35D-43AC-9B31-3FB080D7E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712464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400"/>
              <a:buFont typeface="Calibri"/>
              <a:buNone/>
            </a:pPr>
            <a:r>
              <a:rPr sz="1400" b="0" i="0" u="none" cap="none">
                <a:solidFill>
                  <a:srgbClr val="1A1A1F"/>
                </a:solidFill>
                <a:latin typeface="Calibri"/>
                <a:ea typeface="Calibri"/>
                <a:cs typeface="Calibri"/>
              </a:rPr>
              <a:t>Move upward through the stack</a:t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cxnSp>
        <p:nvCxnSpPr>
          <p:cNvPr id="118" name="Google Shape;75;p6"/>
          <p:cNvCxnSpPr/>
          <p:nvPr/>
        </p:nvCxnSpPr>
        <p:spPr>
          <a:xfrm xmlns:a="http://schemas.openxmlformats.org/drawingml/2006/main">
            <a:off x="4572000" y="2103120"/>
            <a:ext cx="0" cy="22860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E5E3D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6" name="Google Shape;76;p6">
            <a:extLst xmlns:a="http://schemas.openxmlformats.org/drawingml/2006/main">
              <a:ext uri="{FF2B5EF4-FFF2-40B4-BE49-F238E27FC236}">
                <a16:creationId xmlns:a16="http://schemas.microsoft.com/office/drawing/2014/main" id="{E5D1CABD-CC73-4E51-8958-10D8D8EF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1031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SYSTEM FOUNDATIONS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7" name="Google Shape;77;p6">
            <a:extLst xmlns:a="http://schemas.openxmlformats.org/drawingml/2006/main">
              <a:ext uri="{FF2B5EF4-FFF2-40B4-BE49-F238E27FC236}">
                <a16:creationId xmlns:a16="http://schemas.microsoft.com/office/drawing/2014/main" id="{6C68A983-D4EC-4E39-8E33-A3280F602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468880"/>
            <a:ext cx="393192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3200"/>
              <a:buFont typeface="Consolas"/>
              <a:buNone/>
            </a:pPr>
            <a:r>
              <a:rPr sz="3200" b="1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Privacy • contracts • tests</a:t>
            </a:r>
            <a:endParaRPr sz="32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8" name="Google Shape;78;p6">
            <a:extLst xmlns:a="http://schemas.openxmlformats.org/drawingml/2006/main">
              <a:ext uri="{FF2B5EF4-FFF2-40B4-BE49-F238E27FC236}">
                <a16:creationId xmlns:a16="http://schemas.microsoft.com/office/drawing/2014/main" id="{2DC6FE49-38EA-4608-995B-F736FE13E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3063240"/>
            <a:ext cx="3931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300"/>
              <a:buFont typeface="Calibri"/>
              <a:buNone/>
            </a:pPr>
            <a:r>
              <a:rPr sz="1300" b="0" i="0" u="none" cap="none">
                <a:solidFill>
                  <a:srgbClr val="6B6B73"/>
                </a:solidFill>
                <a:latin typeface="Calibri"/>
                <a:ea typeface="Calibri"/>
                <a:cs typeface="Calibri"/>
              </a:rPr>
              <a:t>Boundaries, observability, standards and context reach across every feature slice.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9" name="Google Shape;79;p6">
            <a:extLst xmlns:a="http://schemas.openxmlformats.org/drawingml/2006/main">
              <a:ext uri="{FF2B5EF4-FFF2-40B4-BE49-F238E27FC236}">
                <a16:creationId xmlns:a16="http://schemas.microsoft.com/office/drawing/2014/main" id="{1149CA17-FB52-4509-B184-A6AFB6F6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4160520"/>
            <a:ext cx="128016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39"/>
          </a:solidFill>
          <a:ln xmlns:a="http://schemas.openxmlformats.org/drawingml/2006/main" w="12700" cmpd="sng">
            <a:solidFill>
              <a:srgbClr val="FF5C39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6">
            <a:extLst xmlns:a="http://schemas.openxmlformats.org/drawingml/2006/main">
              <a:ext uri="{FF2B5EF4-FFF2-40B4-BE49-F238E27FC236}">
                <a16:creationId xmlns:a16="http://schemas.microsoft.com/office/drawing/2014/main" id="{3F8F7DC9-5AED-4276-A68F-BB2AD2157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4160520"/>
            <a:ext cx="12801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ONE BUILDER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1" name="Google Shape;81;p6">
            <a:extLst xmlns:a="http://schemas.openxmlformats.org/drawingml/2006/main">
              <a:ext uri="{FF2B5EF4-FFF2-40B4-BE49-F238E27FC236}">
                <a16:creationId xmlns:a16="http://schemas.microsoft.com/office/drawing/2014/main" id="{B4E6919E-CAA3-444F-9EE1-B760792C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2" name="Google Shape;82;p6">
            <a:extLst xmlns:a="http://schemas.openxmlformats.org/drawingml/2006/main">
              <a:ext uri="{FF2B5EF4-FFF2-40B4-BE49-F238E27FC236}">
                <a16:creationId xmlns:a16="http://schemas.microsoft.com/office/drawing/2014/main" id="{A6B92F23-680A-496D-8783-BB587519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13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6429247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9" name="Google Shape;139;p9">
            <a:extLst xmlns:a="http://schemas.openxmlformats.org/drawingml/2006/main">
              <a:ext uri="{FF2B5EF4-FFF2-40B4-BE49-F238E27FC236}">
                <a16:creationId xmlns:a16="http://schemas.microsoft.com/office/drawing/2014/main" id="{4D4A2DC0-77A7-4248-92AC-DAAB6ADF7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13  /  THE ROLE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0" name="Google Shape;140;p9">
            <a:extLst xmlns:a="http://schemas.openxmlformats.org/drawingml/2006/main">
              <a:ext uri="{FF2B5EF4-FFF2-40B4-BE49-F238E27FC236}">
                <a16:creationId xmlns:a16="http://schemas.microsoft.com/office/drawing/2014/main" id="{06B0A1D6-9D2A-4A71-97C6-E8A48E80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777240"/>
            <a:ext cx="841248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3800"/>
              <a:buFont typeface="Georgia"/>
              <a:buNone/>
            </a:pPr>
            <a:r>
              <a:rPr sz="3800" b="0" i="1" u="none" cap="none">
                <a:solidFill>
                  <a:srgbClr val="1A1A1F"/>
                </a:solidFill>
                <a:latin typeface="Georgia"/>
                <a:ea typeface="Georgia"/>
                <a:cs typeface="Georgia"/>
              </a:rPr>
              <a:t>You are gaining more of engineering.</a:t>
            </a:r>
            <a:endParaRPr sz="3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1" name="Google Shape;141;p9">
            <a:extLst xmlns:a="http://schemas.openxmlformats.org/drawingml/2006/main">
              <a:ext uri="{FF2B5EF4-FFF2-40B4-BE49-F238E27FC236}">
                <a16:creationId xmlns:a16="http://schemas.microsoft.com/office/drawing/2014/main" id="{6E2EC17A-DC40-42B1-975E-06A891E9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01168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THE AGENTIC BUILDER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2" name="Google Shape;142;p9">
            <a:extLst xmlns:a="http://schemas.openxmlformats.org/drawingml/2006/main">
              <a:ext uri="{FF2B5EF4-FFF2-40B4-BE49-F238E27FC236}">
                <a16:creationId xmlns:a16="http://schemas.microsoft.com/office/drawing/2014/main" id="{C3EFD4B5-F5BD-4712-B7F2-8BABED40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468880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Shapes intent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3" name="Google Shape;143;p9">
            <a:extLst xmlns:a="http://schemas.openxmlformats.org/drawingml/2006/main">
              <a:ext uri="{FF2B5EF4-FFF2-40B4-BE49-F238E27FC236}">
                <a16:creationId xmlns:a16="http://schemas.microsoft.com/office/drawing/2014/main" id="{D41E90A1-C64B-4616-BBC0-5037DE2E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852928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Designs boundaries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4" name="Google Shape;144;p9">
            <a:extLst xmlns:a="http://schemas.openxmlformats.org/drawingml/2006/main">
              <a:ext uri="{FF2B5EF4-FFF2-40B4-BE49-F238E27FC236}">
                <a16:creationId xmlns:a16="http://schemas.microsoft.com/office/drawing/2014/main" id="{0543F061-5F6F-4D55-98E4-57DE12657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236976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Orchestrates capabilities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5" name="Google Shape;145;p9">
            <a:extLst xmlns:a="http://schemas.openxmlformats.org/drawingml/2006/main">
              <a:ext uri="{FF2B5EF4-FFF2-40B4-BE49-F238E27FC236}">
                <a16:creationId xmlns:a16="http://schemas.microsoft.com/office/drawing/2014/main" id="{B7ECA970-5DCC-4E83-92E0-E10CCD9B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21024"/>
            <a:ext cx="54864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A1A1F"/>
              </a:buClr>
              <a:buSzPts val="1600"/>
              <a:buFont typeface="Consolas"/>
              <a:buNone/>
            </a:pPr>
            <a:r>
              <a:rPr sz="1600" b="0" i="0" u="none" cap="none">
                <a:solidFill>
                  <a:srgbClr val="1A1A1F"/>
                </a:solidFill>
                <a:latin typeface="Consolas"/>
                <a:ea typeface="Consolas"/>
                <a:cs typeface="Consolas"/>
              </a:rPr>
              <a:t>Evaluates evidence</a:t>
            </a:r>
            <a:endParaRPr sz="16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0" name="Google Shape;150;p9">
            <a:extLst xmlns:a="http://schemas.openxmlformats.org/drawingml/2006/main">
              <a:ext uri="{FF2B5EF4-FFF2-40B4-BE49-F238E27FC236}">
                <a16:creationId xmlns:a16="http://schemas.microsoft.com/office/drawing/2014/main" id="{2B3716DB-4FF3-41C5-91E7-29E5E296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89120"/>
            <a:ext cx="128016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39"/>
          </a:solidFill>
          <a:ln xmlns:a="http://schemas.openxmlformats.org/drawingml/2006/main" w="12700" cmpd="sng">
            <a:solidFill>
              <a:srgbClr val="FF5C39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">
            <a:extLst xmlns:a="http://schemas.openxmlformats.org/drawingml/2006/main">
              <a:ext uri="{FF2B5EF4-FFF2-40B4-BE49-F238E27FC236}">
                <a16:creationId xmlns:a16="http://schemas.microsoft.com/office/drawing/2014/main" id="{2D400D66-BEB5-4860-840B-6C49D1EA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89120"/>
            <a:ext cx="128016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1100"/>
              <a:buFont typeface="Consolas"/>
              <a:buNone/>
            </a:pPr>
            <a:r>
              <a:rPr sz="1100" b="1" i="0" u="none" cap="none">
                <a:solidFill>
                  <a:srgbClr val="FAFAF7"/>
                </a:solidFill>
                <a:latin typeface="Consolas"/>
                <a:ea typeface="Consolas"/>
                <a:cs typeface="Consolas"/>
              </a:rPr>
              <a:t>BUILDER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2" name="Google Shape;152;p9">
            <a:extLst xmlns:a="http://schemas.openxmlformats.org/drawingml/2006/main">
              <a:ext uri="{FF2B5EF4-FFF2-40B4-BE49-F238E27FC236}">
                <a16:creationId xmlns:a16="http://schemas.microsoft.com/office/drawing/2014/main" id="{910F8A5B-1786-49E1-8D50-8DE07318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3" name="Google Shape;153;p9">
            <a:extLst xmlns:a="http://schemas.openxmlformats.org/drawingml/2006/main">
              <a:ext uri="{FF2B5EF4-FFF2-40B4-BE49-F238E27FC236}">
                <a16:creationId xmlns:a16="http://schemas.microsoft.com/office/drawing/2014/main" id="{00DBAE41-9E24-468E-B8BB-90955149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14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5d13ae5e98434d"/>
          <a:stretch xmlns:a="http://schemas.openxmlformats.org/drawingml/2006/main"/>
        </p:blipFill>
        <p:spPr>
          <a:xfrm xmlns:a="http://schemas.openxmlformats.org/drawingml/2006/main">
            <a:off x="6217920" y="2571367"/>
            <a:ext cx="2560320" cy="144094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918591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F0F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11">
            <a:extLst xmlns:a="http://schemas.openxmlformats.org/drawingml/2006/main">
              <a:ext uri="{FF2B5EF4-FFF2-40B4-BE49-F238E27FC236}">
                <a16:creationId xmlns:a16="http://schemas.microsoft.com/office/drawing/2014/main" id="{AA2EB014-671F-4926-B3CC-F6110043E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5760"/>
            <a:ext cx="8229600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100"/>
              <a:buFont typeface="Consolas"/>
              <a:buNone/>
            </a:pPr>
            <a:r>
              <a:rPr sz="1100" b="0" i="0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14  /  OVER TO YOU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7" name="Google Shape;177;p11">
            <a:extLst xmlns:a="http://schemas.openxmlformats.org/drawingml/2006/main">
              <a:ext uri="{FF2B5EF4-FFF2-40B4-BE49-F238E27FC236}">
                <a16:creationId xmlns:a16="http://schemas.microsoft.com/office/drawing/2014/main" id="{36BC7421-D9BF-4537-9CF0-981EF5E3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05840"/>
            <a:ext cx="841248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3800"/>
              <a:buFont typeface="Georgia"/>
              <a:buNone/>
            </a:pPr>
            <a:r>
              <a:rPr sz="3800" b="0" i="1" u="none" cap="none">
                <a:solidFill>
                  <a:srgbClr val="FAFAF7"/>
                </a:solidFill>
                <a:latin typeface="Georgia"/>
                <a:ea typeface="Georgia"/>
                <a:cs typeface="Georgia"/>
              </a:rPr>
              <a:t>What will you build</a:t>
            </a:r>
            <a:endParaRPr sz="3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8" name="Google Shape;178;p11">
            <a:extLst xmlns:a="http://schemas.openxmlformats.org/drawingml/2006/main">
              <a:ext uri="{FF2B5EF4-FFF2-40B4-BE49-F238E27FC236}">
                <a16:creationId xmlns:a16="http://schemas.microsoft.com/office/drawing/2014/main" id="{84E34CCC-EB35-4371-B5B8-575D8DD70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828800"/>
            <a:ext cx="841248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3800"/>
              <a:buFont typeface="Georgia"/>
              <a:buNone/>
            </a:pPr>
            <a:r>
              <a:rPr sz="3800" b="0" i="1" u="none" cap="none">
                <a:solidFill>
                  <a:srgbClr val="FF5C39"/>
                </a:solidFill>
                <a:latin typeface="Georgia"/>
                <a:ea typeface="Georgia"/>
                <a:cs typeface="Georgia"/>
              </a:rPr>
              <a:t>when code is no longer</a:t>
            </a:r>
            <a:endParaRPr sz="3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9" name="Google Shape;179;p11">
            <a:extLst xmlns:a="http://schemas.openxmlformats.org/drawingml/2006/main">
              <a:ext uri="{FF2B5EF4-FFF2-40B4-BE49-F238E27FC236}">
                <a16:creationId xmlns:a16="http://schemas.microsoft.com/office/drawing/2014/main" id="{CF360AFB-08A7-463A-8457-A3574938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514600"/>
            <a:ext cx="841248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3800"/>
              <a:buFont typeface="Georgia"/>
              <a:buNone/>
            </a:pPr>
            <a:r>
              <a:rPr sz="3800" b="0" i="1" u="none" cap="none">
                <a:solidFill>
                  <a:srgbClr val="FF5C39"/>
                </a:solidFill>
                <a:latin typeface="Georgia"/>
                <a:ea typeface="Georgia"/>
                <a:cs typeface="Georgia"/>
              </a:rPr>
              <a:t>the bottleneck?</a:t>
            </a:r>
            <a:endParaRPr sz="38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cxnSp>
        <p:nvCxnSpPr>
          <p:cNvPr id="205" name="Google Shape;180;p11"/>
          <p:cNvCxnSpPr/>
          <p:nvPr/>
        </p:nvCxnSpPr>
        <p:spPr>
          <a:xfrm xmlns:a="http://schemas.openxmlformats.org/drawingml/2006/main">
            <a:off x="365760" y="3703320"/>
            <a:ext cx="3657600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rgbClr val="2A2A3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1" name="Google Shape;181;p11">
            <a:extLst xmlns:a="http://schemas.openxmlformats.org/drawingml/2006/main">
              <a:ext uri="{FF2B5EF4-FFF2-40B4-BE49-F238E27FC236}">
                <a16:creationId xmlns:a16="http://schemas.microsoft.com/office/drawing/2014/main" id="{30E5695F-ED33-43DC-A41C-39029E20E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840480"/>
            <a:ext cx="822960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AFAF7"/>
              </a:buClr>
              <a:buSzPts val="1500"/>
              <a:buFont typeface="Calibri"/>
              <a:buNone/>
            </a:pPr>
            <a:r>
              <a:rPr sz="1500" b="0" i="0" u="none" cap="none">
                <a:solidFill>
                  <a:srgbClr val="FAFAF7"/>
                </a:solidFill>
                <a:latin typeface="Calibri"/>
                <a:ea typeface="Calibri"/>
                <a:cs typeface="Calibri"/>
              </a:rPr>
              <a:t>The valuable unit is the loop.</a:t>
            </a:r>
            <a:endParaRPr sz="15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2" name="Google Shape;182;p11">
            <a:extLst xmlns:a="http://schemas.openxmlformats.org/drawingml/2006/main">
              <a:ext uri="{FF2B5EF4-FFF2-40B4-BE49-F238E27FC236}">
                <a16:creationId xmlns:a16="http://schemas.microsoft.com/office/drawing/2014/main" id="{048110DF-5E9F-4D1A-A384-37FF6A1D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160520"/>
            <a:ext cx="822960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1500"/>
              <a:buFont typeface="Calibri"/>
              <a:buNone/>
            </a:pPr>
            <a:r>
              <a:rPr sz="1500" b="0" i="0" u="none" cap="none">
                <a:solidFill>
                  <a:srgbClr val="6B6B73"/>
                </a:solidFill>
                <a:latin typeface="Calibri"/>
                <a:ea typeface="Calibri"/>
                <a:cs typeface="Calibri"/>
              </a:rPr>
              <a:t>Curiosity. Intentionality. Judgment. Evidence.</a:t>
            </a:r>
            <a:endParaRPr sz="15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3" name="Google Shape;183;p11">
            <a:extLst xmlns:a="http://schemas.openxmlformats.org/drawingml/2006/main">
              <a:ext uri="{FF2B5EF4-FFF2-40B4-BE49-F238E27FC236}">
                <a16:creationId xmlns:a16="http://schemas.microsoft.com/office/drawing/2014/main" id="{8FCBAC2D-6C84-4B25-BAF4-DFB66C943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480560"/>
            <a:ext cx="8229600" cy="29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FF5C39"/>
              </a:buClr>
              <a:buSzPts val="1300"/>
              <a:buFont typeface="Consolas"/>
              <a:buNone/>
            </a:pPr>
            <a:r>
              <a:rPr sz="1300" b="0" i="1" u="none" cap="none">
                <a:solidFill>
                  <a:srgbClr val="FF5C39"/>
                </a:solidFill>
                <a:latin typeface="Consolas"/>
                <a:ea typeface="Consolas"/>
                <a:cs typeface="Consolas"/>
              </a:rPr>
              <a:t>Questions?</a:t>
            </a:r>
            <a:endParaRPr sz="13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4" name="Google Shape;184;p11">
            <a:extLst xmlns:a="http://schemas.openxmlformats.org/drawingml/2006/main">
              <a:ext uri="{FF2B5EF4-FFF2-40B4-BE49-F238E27FC236}">
                <a16:creationId xmlns:a16="http://schemas.microsoft.com/office/drawing/2014/main" id="{6B0C27BA-3562-4381-845B-5032E6C7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8006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KEITH PATTON  /  JUNIORDEV AUCKLAND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5" name="Google Shape;185;p11">
            <a:extLst xmlns:a="http://schemas.openxmlformats.org/drawingml/2006/main">
              <a:ext uri="{FF2B5EF4-FFF2-40B4-BE49-F238E27FC236}">
                <a16:creationId xmlns:a16="http://schemas.microsoft.com/office/drawing/2014/main" id="{29DB213F-86C4-4A29-8E10-D6C1282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00600"/>
            <a:ext cx="82296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6B6B73"/>
              </a:buClr>
              <a:buSzPts val="900"/>
              <a:buFont typeface="Consolas"/>
              <a:buNone/>
            </a:pPr>
            <a:r>
              <a:rPr sz="900" b="0" i="0" u="none" cap="none">
                <a:solidFill>
                  <a:srgbClr val="6B6B73"/>
                </a:solidFill>
                <a:latin typeface="Consolas"/>
                <a:ea typeface="Consolas"/>
                <a:cs typeface="Consolas"/>
              </a:rPr>
              <a:t>15 / 15</a:t>
            </a:r>
            <a:endParaRPr sz="9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804452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2026-09-01T10:06:26.8430000Z</dcterms:created>
  <dcterms:modified xsi:type="dcterms:W3CDTF">2026-09-01T10:06:26.8430000Z</dcterms:modified>
</coreProperties>
</file>